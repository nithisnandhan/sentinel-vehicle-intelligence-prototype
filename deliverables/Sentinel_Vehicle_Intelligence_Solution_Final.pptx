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05fc653ec14aee" /><Relationship Type="http://schemas.openxmlformats.org/officeDocument/2006/relationships/extended-properties" Target="/docProps/app.xml" Id="R5e8a3c124aa445c0" /><Relationship Type="http://schemas.openxmlformats.org/officeDocument/2006/relationships/officeDocument" Target="/ppt/presentation.xml" Id="R8fbaa95bae04436c" /></Relationships>
</file>

<file path=ppt/presentation.xml><?xml version="1.0" encoding="utf-8"?>
<p:presentation xmlns:p="http://schemas.openxmlformats.org/presentationml/2006/main">
  <p:sldMasterIdLst>
    <p:sldMasterId xmlns:r="http://schemas.openxmlformats.org/officeDocument/2006/relationships" id="2147483648" r:id="R22e9174f4db54ee2"/>
  </p:sldMasterIdLst>
  <p:notesMasterIdLst>
    <p:notesMasterId xmlns:r="http://schemas.openxmlformats.org/officeDocument/2006/relationships" r:id="R7258b9202aa24d99"/>
  </p:notesMasterIdLst>
  <p:sldIdLst>
    <p:sldId xmlns:r="http://schemas.openxmlformats.org/officeDocument/2006/relationships" id="256" r:id="R887946b339d349ed"/>
    <p:sldId xmlns:r="http://schemas.openxmlformats.org/officeDocument/2006/relationships" id="257" r:id="Rc757f1dacb1c4434"/>
    <p:sldId xmlns:r="http://schemas.openxmlformats.org/officeDocument/2006/relationships" id="258" r:id="R737ba8538a1746bb"/>
    <p:sldId xmlns:r="http://schemas.openxmlformats.org/officeDocument/2006/relationships" id="259" r:id="R97bbda9dfca64860"/>
    <p:sldId xmlns:r="http://schemas.openxmlformats.org/officeDocument/2006/relationships" id="260" r:id="R742cddeb02914be5"/>
    <p:sldId xmlns:r="http://schemas.openxmlformats.org/officeDocument/2006/relationships" id="261" r:id="Rf2e3d50d8c5d4607"/>
    <p:sldId xmlns:r="http://schemas.openxmlformats.org/officeDocument/2006/relationships" id="262" r:id="R4d784fade8f64539"/>
    <p:sldId xmlns:r="http://schemas.openxmlformats.org/officeDocument/2006/relationships" id="263" r:id="R2f1a1faa8f454044"/>
    <p:sldId xmlns:r="http://schemas.openxmlformats.org/officeDocument/2006/relationships" id="264" r:id="R801d45efc1d3452b"/>
    <p:sldId xmlns:r="http://schemas.openxmlformats.org/officeDocument/2006/relationships" id="265" r:id="R38c30756c39444bd"/>
    <p:sldId xmlns:r="http://schemas.openxmlformats.org/officeDocument/2006/relationships" id="266" r:id="Rdfe47a8a8a5b4911"/>
    <p:sldId xmlns:r="http://schemas.openxmlformats.org/officeDocument/2006/relationships" id="267" r:id="R72a65ecf85be46a8"/>
    <p:sldId xmlns:r="http://schemas.openxmlformats.org/officeDocument/2006/relationships" id="268" r:id="R98030be7aa2d494d"/>
    <p:sldId xmlns:r="http://schemas.openxmlformats.org/officeDocument/2006/relationships" id="269" r:id="R1b11ef36c87448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66a541379640c6" /><Relationship Type="http://schemas.openxmlformats.org/officeDocument/2006/relationships/slideMaster" Target="/ppt/slideMasters/slideMaster1.xml" Id="R22e9174f4db54ee2" /><Relationship Type="http://schemas.openxmlformats.org/officeDocument/2006/relationships/notesMaster" Target="/ppt/notesMasters/notesMaster1.xml" Id="R7258b9202aa24d99" /><Relationship Type="http://schemas.openxmlformats.org/officeDocument/2006/relationships/presProps" Target="/ppt/presProps.xml" Id="R3732e72a1e134853" /><Relationship Type="http://schemas.openxmlformats.org/officeDocument/2006/relationships/tableStyles" Target="/ppt/tableStyles.xml" Id="Ra966aa0f49fa4a1a" /><Relationship Type="http://schemas.openxmlformats.org/officeDocument/2006/relationships/slide" Target="/ppt/slides/slide1.xml" Id="R887946b339d349ed" /><Relationship Type="http://schemas.openxmlformats.org/officeDocument/2006/relationships/slide" Target="/ppt/slides/slide2.xml" Id="Rc757f1dacb1c4434" /><Relationship Type="http://schemas.openxmlformats.org/officeDocument/2006/relationships/slide" Target="/ppt/slides/slide3.xml" Id="R737ba8538a1746bb" /><Relationship Type="http://schemas.openxmlformats.org/officeDocument/2006/relationships/slide" Target="/ppt/slides/slide4.xml" Id="R97bbda9dfca64860" /><Relationship Type="http://schemas.openxmlformats.org/officeDocument/2006/relationships/slide" Target="/ppt/slides/slide5.xml" Id="R742cddeb02914be5" /><Relationship Type="http://schemas.openxmlformats.org/officeDocument/2006/relationships/slide" Target="/ppt/slides/slide6.xml" Id="Rf2e3d50d8c5d4607" /><Relationship Type="http://schemas.openxmlformats.org/officeDocument/2006/relationships/slide" Target="/ppt/slides/slide7.xml" Id="R4d784fade8f64539" /><Relationship Type="http://schemas.openxmlformats.org/officeDocument/2006/relationships/slide" Target="/ppt/slides/slide8.xml" Id="R2f1a1faa8f454044" /><Relationship Type="http://schemas.openxmlformats.org/officeDocument/2006/relationships/slide" Target="/ppt/slides/slide9.xml" Id="R801d45efc1d3452b" /><Relationship Type="http://schemas.openxmlformats.org/officeDocument/2006/relationships/slide" Target="/ppt/slides/slide10.xml" Id="R38c30756c39444bd" /><Relationship Type="http://schemas.openxmlformats.org/officeDocument/2006/relationships/slide" Target="/ppt/slides/slide11.xml" Id="Rdfe47a8a8a5b4911" /><Relationship Type="http://schemas.openxmlformats.org/officeDocument/2006/relationships/slide" Target="/ppt/slides/slide12.xml" Id="R72a65ecf85be46a8" /><Relationship Type="http://schemas.openxmlformats.org/officeDocument/2006/relationships/slide" Target="/ppt/slides/slide13.xml" Id="R98030be7aa2d494d" /><Relationship Type="http://schemas.openxmlformats.org/officeDocument/2006/relationships/slide" Target="/ppt/slides/slide14.xml" Id="R1b11ef36c87448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63151b473644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6c3b8b40234e60" /><Relationship Type="http://schemas.openxmlformats.org/officeDocument/2006/relationships/notesMaster" Target="/ppt/notesMasters/notesMaster1.xml" Id="R47d5b0bd703146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9afe7961a34e85" /><Relationship Type="http://schemas.openxmlformats.org/officeDocument/2006/relationships/notesMaster" Target="/ppt/notesMasters/notesMaster1.xml" Id="R5abfb0b9810440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6c95e36f8e489c" /><Relationship Type="http://schemas.openxmlformats.org/officeDocument/2006/relationships/notesMaster" Target="/ppt/notesMasters/notesMaster1.xml" Id="R915bc4622d8343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57e868bfa04cf4" /><Relationship Type="http://schemas.openxmlformats.org/officeDocument/2006/relationships/notesMaster" Target="/ppt/notesMasters/notesMaster1.xml" Id="R2d175367bca84c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510e50026342c2" /><Relationship Type="http://schemas.openxmlformats.org/officeDocument/2006/relationships/notesMaster" Target="/ppt/notesMasters/notesMaster1.xml" Id="Re3423daaa70f44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c076c576e64db2" /><Relationship Type="http://schemas.openxmlformats.org/officeDocument/2006/relationships/notesMaster" Target="/ppt/notesMasters/notesMaster1.xml" Id="Rdc0dbe90445947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a95901ecd940af" /><Relationship Type="http://schemas.openxmlformats.org/officeDocument/2006/relationships/notesMaster" Target="/ppt/notesMasters/notesMaster1.xml" Id="R6b8fa238c61740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56f3515e154ca8" /><Relationship Type="http://schemas.openxmlformats.org/officeDocument/2006/relationships/notesMaster" Target="/ppt/notesMasters/notesMaster1.xml" Id="R89aaa21e674c42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ea184ffa414991" /><Relationship Type="http://schemas.openxmlformats.org/officeDocument/2006/relationships/notesMaster" Target="/ppt/notesMasters/notesMaster1.xml" Id="R9f76a747847a47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366614983e4012" /><Relationship Type="http://schemas.openxmlformats.org/officeDocument/2006/relationships/notesMaster" Target="/ppt/notesMasters/notesMaster1.xml" Id="Rc3c9ab943fe246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879e2a18e24061" /><Relationship Type="http://schemas.openxmlformats.org/officeDocument/2006/relationships/notesMaster" Target="/ppt/notesMasters/notesMaster1.xml" Id="Re7449bf5451b4a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3c468e4b914a1f" /><Relationship Type="http://schemas.openxmlformats.org/officeDocument/2006/relationships/notesMaster" Target="/ppt/notesMasters/notesMaster1.xml" Id="R4dfb8870acc440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a3cd51332a4610" /><Relationship Type="http://schemas.openxmlformats.org/officeDocument/2006/relationships/notesMaster" Target="/ppt/notesMasters/notesMaster1.xml" Id="R3b2fc56e9be943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02c1766c8a4d53" /><Relationship Type="http://schemas.openxmlformats.org/officeDocument/2006/relationships/notesMaster" Target="/ppt/notesMasters/notesMaster1.xml" Id="Rdb6a1b8e0d4a42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describes the implemented local prototype, measured recognition results, and the work needed before any large-scale or accuracy claims. Project evidence is drawn from the repository documentation and validation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scope and current camera pair: docs/DUAL_INTERFACES.md. The two-camera scope is a prototype boundary. The larger camera count is an architectural ambition, not measured 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compose.yaml; edge/sentinel_edge/worker.py; edge/sentinel_edge/outbox.py; backend/app/main.py; docs/DUAL_INTERFACES.md. The diagram is editable PowerPoint content. The offline simulator uses synthetic 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sources: edge/sentinel_edge/worker.py, edge/sentinel_edge/vision.py, edge/sentinel_edge/tracked_ocr.py, edge/sentinel_edge/ctc_fusion.py, backend/app/main.py. PTS is used for sequencing; crop pixels and full hypotheses are not sent through the central recognition proxy.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 documented in docs/DUAL_INTERFACES.md, backend/app/main.py and frontend/src/App.tsx. The map uses project-provided approximate demo coordinates where available; it is not an authoritative GIS camera inventory. Full-catalogue availability depends on authorised Sentinel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console implementation: docs/DUAL_INTERFACES.md, docs/LIVE_RECONSTRUCTION.md, edge/sentinel_edge/engineering_page.py, edge/sentinel_edge/recognition_debug.py and edge/sentinel_edge/tracked_ocr.py. The three frame readings shown on the slide are fabricated placeholders to explain the interface and must not be presented as test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Configured model stack and engineering diagnostic: docs/DUAL_INTERFACES.md, edge/sentinel_edge/vision.py and edge/sentinel_edge/experimental_detectors.py. Research branch scope: docs/HYBRID_RECOGNITION.md and docs/LIVE_RECONSTRUCTION.md. The table describes distinct project paths, not a single stacked model deployed in every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docs/HYBRID_RECOGNITION.md, docs/DEEP_OCR_ADAPTATION.md, docs/INDIAN_DATASET_AUDIT.md, docs/DETECTOR_COMPARISON.md. The 84 evaluations comprised repeated degradation conditions of a small number of source crops, not 84 independent vehicles. In that pilot, the correct label appeared in 16/21 hybrid candidate sets versus 9/21 for CCT, while it ranked first in 1/21 hybrid cases versus 4/21 for CCT. All 84 tests abstained.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Latest test counts from the 28 September 2026 work session: edge 282 passed and one optional test skipped; backend 53 passed; frontend 15 passed and production build passed. Synthetic integration evidence and caveats are recorded in VALIDATION.md. Test counts are software regression evidence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data/benchmarks/reports/single-general-live-cam17-cam01-20260928.json. Adapted comparison: data/benchmarks/reports/single-plate-adapted-live-cam17-cam01-20260928.json. Each camera was run sequentially for approximately 180 seconds. The runs were not a controlled same-scene comparison. Crop counts and candidate windows are not unique vehicles, plate recall or accuracy. No labelled live ground truth was available. The recognition endpoint later returned 503 during the most recent status check; catalogue search had recovered to HTTP 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docs/DUAL_INTERFACES.md, docs/LIVE_RECONSTRUCTION.md, edge/sentinel_edge/outbox.py, edge/sentinel_edge/privacy.py and backend/app/recognition.py. Full candidate text, images and OCR histories remain in the local engineering view and are not returned by the central recognition proxy. Live video and full OCR text are not stored centrally.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benefits are goals, not measured outcomes. Current limits are evidenced by the two 28 September live reports, docs/HYBRID_RECOGNITION.md and docs/DUAL_INTERFACES.md.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is proposed, not completed. The need for permitted labelled data, independent holdout testing, authorised registry access and load testing follows from the unmet gates described in docs/HYBRID_RECOGNITION.md, docs/PLATE_RECOGNITION_RESEARCH_2026-09-28.md, docs/INDIAN_DATASET_AUDIT.md and 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sequence uses implemented features from docs/DUAL_INTERFACES.md and the synthetic API workflow from VALIDATION.md. Do not present synthetic alerts as camera detections or candidate guesses as confirmed registrations. Completion gates should be agreed and evaluated on permitted, independently labelled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cb4b55882343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93438706704be3" /><Relationship Type="http://schemas.openxmlformats.org/officeDocument/2006/relationships/slideLayout" Target="/ppt/slideLayouts/slideLayout1.xml" Id="R27b7c2eee38044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b7c2eee38044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ef41ce059548a4" /><Relationship Type="http://schemas.openxmlformats.org/officeDocument/2006/relationships/notesSlide" Target="/ppt/notesSlides/notesSlide1.xml" Id="R95bce60f657942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68f88de0ad437b" /><Relationship Type="http://schemas.openxmlformats.org/officeDocument/2006/relationships/notesSlide" Target="/ppt/notesSlides/notesSlide2.xml" Id="R74d493a617d249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4b35c2a9f54df0" /><Relationship Type="http://schemas.openxmlformats.org/officeDocument/2006/relationships/notesSlide" Target="/ppt/notesSlides/notesSlide3.xml" Id="Re8dfabd7a78f43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42a3d070db48ec" /><Relationship Type="http://schemas.openxmlformats.org/officeDocument/2006/relationships/notesSlide" Target="/ppt/notesSlides/notesSlide4.xml" Id="Rb1f25718c07c4f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e4d42fe5da4bac" /><Relationship Type="http://schemas.openxmlformats.org/officeDocument/2006/relationships/notesSlide" Target="/ppt/notesSlides/notesSlide5.xml" Id="R2275678422e14d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5e81b6bf5b47d2" /><Relationship Type="http://schemas.openxmlformats.org/officeDocument/2006/relationships/notesSlide" Target="/ppt/notesSlides/notesSlide6.xml" Id="R7c27c45ba05f47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38e7418d9a4e94" /><Relationship Type="http://schemas.openxmlformats.org/officeDocument/2006/relationships/notesSlide" Target="/ppt/notesSlides/notesSlide7.xml" Id="Rab394f6c149b41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4535323b3840cf" /><Relationship Type="http://schemas.openxmlformats.org/officeDocument/2006/relationships/notesSlide" Target="/ppt/notesSlides/notesSlide8.xml" Id="R320c5622ce2249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abb1e3894c46fc" /><Relationship Type="http://schemas.openxmlformats.org/officeDocument/2006/relationships/notesSlide" Target="/ppt/notesSlides/notesSlide9.xml" Id="R94a346148b984f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3541f2e47e9436d" /><Relationship Type="http://schemas.openxmlformats.org/officeDocument/2006/relationships/notesSlide" Target="/ppt/notesSlides/notesSlide10.xml" Id="Rf1435158dd664c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806193e176f40db" /><Relationship Type="http://schemas.openxmlformats.org/officeDocument/2006/relationships/notesSlide" Target="/ppt/notesSlides/notesSlide11.xml" Id="R331f89c31ad541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8a5356335ec49e6" /><Relationship Type="http://schemas.openxmlformats.org/officeDocument/2006/relationships/notesSlide" Target="/ppt/notesSlides/notesSlide12.xml" Id="R1e21ed3f8b4d42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f0dc926433c467d" /><Relationship Type="http://schemas.openxmlformats.org/officeDocument/2006/relationships/notesSlide" Target="/ppt/notesSlides/notesSlide13.xml" Id="R570f573366d946c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abaa0a8864d4764" /><Relationship Type="http://schemas.openxmlformats.org/officeDocument/2006/relationships/notesSlide" Target="/ppt/notesSlides/notesSlide14.xml" Id="R1ce62fbb00724cac" /></Relationships>
</file>

<file path=ppt/slides/slide1.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06CCFA-C019-4630-9C4B-5A65D89747C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606B33-B196-451E-B832-736EB0DF5E73}"/>
              </a:ext>
            </a:extLst>
          </p:cNvPr>
          <p:cNvSpPr>
            <a:spLocks xmlns:a="http://schemas.openxmlformats.org/drawingml/2006/main" noGrp="1"/>
          </p:cNvSpPr>
          <p:nvPr/>
        </p:nvSpPr>
        <p:spPr>
          <a:xfrm xmlns:a="http://schemas.openxmlformats.org/drawingml/2006/main">
            <a:off x="628650" y="895350"/>
            <a:ext cx="76200" cy="1524000"/>
          </a:xfrm>
          <a:prstGeom xmlns:a="http://schemas.openxmlformats.org/drawingml/2006/main" prst="rect">
            <a:avLst/>
          </a:prstGeom>
          <a:solidFill xmlns:a="http://schemas.openxmlformats.org/drawingml/2006/main">
            <a:srgbClr val="F1B86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D1E7489-2D21-4DD6-9063-BAFDBB53C74F}"/>
              </a:ext>
            </a:extLst>
          </p:cNvPr>
          <p:cNvSpPr>
            <a:spLocks xmlns:a="http://schemas.openxmlformats.org/drawingml/2006/main" noGrp="1"/>
          </p:cNvSpPr>
          <p:nvPr/>
        </p:nvSpPr>
        <p:spPr>
          <a:xfrm xmlns:a="http://schemas.openxmlformats.org/drawingml/2006/main">
            <a:off x="952500" y="914400"/>
            <a:ext cx="9906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09"/>
          </a:bodyPr>
          <a:lstStyle xmlns:a="http://schemas.openxmlformats.org/drawingml/2006/main"/>
          <a:p xmlns:a="http://schemas.openxmlformats.org/drawingml/2006/main">
            <a:pPr algn="l">
              <a:lnSpc>
                <a:spcPct val="95000"/>
              </a:lnSpc>
              <a:buNone/>
              <a:defRPr sz="4575" b="1">
                <a:solidFill>
                  <a:srgbClr val="F3F5F6"/>
                </a:solidFill>
                <a:latin typeface="Arial"/>
                <a:ea typeface="Arial"/>
                <a:cs typeface="Arial"/>
              </a:defRPr>
            </a:pPr>
            <a:r>
              <a:rPr sz="4575" b="1">
                <a:solidFill>
                  <a:srgbClr val="F3F5F6"/>
                </a:solidFill>
                <a:latin typeface="Arial"/>
                <a:ea typeface="Arial"/>
                <a:cs typeface="Arial"/>
              </a:rPr>
              <a:t>Sentinel Vehicle</a:t>
            </a:r>
          </a:p>
          <a:p xmlns:a="http://schemas.openxmlformats.org/drawingml/2006/main">
            <a:pPr algn="l">
              <a:lnSpc>
                <a:spcPct val="95000"/>
              </a:lnSpc>
              <a:buNone/>
              <a:defRPr sz="4575" b="1">
                <a:solidFill>
                  <a:srgbClr val="F3F5F6"/>
                </a:solidFill>
                <a:latin typeface="Arial"/>
                <a:ea typeface="Arial"/>
                <a:cs typeface="Arial"/>
              </a:defRPr>
            </a:pPr>
            <a:r>
              <a:rPr sz="4575" b="1">
                <a:solidFill>
                  <a:srgbClr val="F3F5F6"/>
                </a:solidFill>
                <a:latin typeface="Arial"/>
                <a:ea typeface="Arial"/>
                <a:cs typeface="Arial"/>
              </a:rPr>
              <a:t>Intelligence</a:t>
            </a:r>
          </a:p>
        </p:txBody>
      </p:sp>
      <p:sp>
        <p:nvSpPr>
          <p:cNvPr id="4" name="">
            <a:extLst xmlns:a="http://schemas.openxmlformats.org/drawingml/2006/main">
              <a:ext uri="{FF2B5EF4-FFF2-40B4-BE49-F238E27FC236}">
                <a16:creationId xmlns:a16="http://schemas.microsoft.com/office/drawing/2014/main" id="{556CD6FE-C840-44F4-A11F-F81030571218}"/>
              </a:ext>
            </a:extLst>
          </p:cNvPr>
          <p:cNvSpPr>
            <a:spLocks xmlns:a="http://schemas.openxmlformats.org/drawingml/2006/main" noGrp="1"/>
          </p:cNvSpPr>
          <p:nvPr/>
        </p:nvSpPr>
        <p:spPr>
          <a:xfrm xmlns:a="http://schemas.openxmlformats.org/drawingml/2006/main">
            <a:off x="981075" y="2457450"/>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0">
                <a:solidFill>
                  <a:srgbClr val="4BD2C0"/>
                </a:solidFill>
                <a:latin typeface="Arial"/>
                <a:ea typeface="Arial"/>
                <a:cs typeface="Arial"/>
              </a:defRPr>
            </a:pPr>
            <a:r>
              <a:rPr sz="2100" b="0">
                <a:solidFill>
                  <a:srgbClr val="4BD2C0"/>
                </a:solidFill>
                <a:latin typeface="Arial"/>
                <a:ea typeface="Arial"/>
                <a:cs typeface="Arial"/>
              </a:rPr>
              <a:t>Solution, prototype progress and future scope</a:t>
            </a:r>
          </a:p>
        </p:txBody>
      </p:sp>
      <p:sp>
        <p:nvSpPr>
          <p:cNvPr id="5" name="">
            <a:extLst xmlns:a="http://schemas.openxmlformats.org/drawingml/2006/main">
              <a:ext uri="{FF2B5EF4-FFF2-40B4-BE49-F238E27FC236}">
                <a16:creationId xmlns:a16="http://schemas.microsoft.com/office/drawing/2014/main" id="{6F1CE4F3-0F0F-4CA3-A251-AF8D46B1F41C}"/>
              </a:ext>
            </a:extLst>
          </p:cNvPr>
          <p:cNvSpPr>
            <a:spLocks xmlns:a="http://schemas.openxmlformats.org/drawingml/2006/main" noGrp="1"/>
          </p:cNvSpPr>
          <p:nvPr/>
        </p:nvSpPr>
        <p:spPr>
          <a:xfrm xmlns:a="http://schemas.openxmlformats.org/drawingml/2006/main">
            <a:off x="971550" y="3190875"/>
            <a:ext cx="7239000" cy="19050"/>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1EA61D-578A-4E99-BD2A-273273BC5BF3}"/>
              </a:ext>
            </a:extLst>
          </p:cNvPr>
          <p:cNvSpPr>
            <a:spLocks xmlns:a="http://schemas.openxmlformats.org/drawingml/2006/main" noGrp="1"/>
          </p:cNvSpPr>
          <p:nvPr/>
        </p:nvSpPr>
        <p:spPr>
          <a:xfrm xmlns:a="http://schemas.openxmlformats.org/drawingml/2006/main">
            <a:off x="981075" y="3457575"/>
            <a:ext cx="904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0">
                <a:solidFill>
                  <a:srgbClr val="ACBBC4"/>
                </a:solidFill>
                <a:latin typeface="Arial"/>
                <a:ea typeface="Arial"/>
                <a:cs typeface="Arial"/>
              </a:defRPr>
            </a:pPr>
            <a:r>
              <a:rPr sz="1800" b="0">
                <a:solidFill>
                  <a:srgbClr val="ACBBC4"/>
                </a:solidFill>
                <a:latin typeface="Arial"/>
                <a:ea typeface="Arial"/>
                <a:cs typeface="Arial"/>
              </a:rPr>
              <a:t>A hybrid edge-to-central system for vehicle and number-plate review</a:t>
            </a:r>
          </a:p>
        </p:txBody>
      </p:sp>
      <p:sp>
        <p:nvSpPr>
          <p:cNvPr id="7" name="">
            <a:extLst xmlns:a="http://schemas.openxmlformats.org/drawingml/2006/main">
              <a:ext uri="{FF2B5EF4-FFF2-40B4-BE49-F238E27FC236}">
                <a16:creationId xmlns:a16="http://schemas.microsoft.com/office/drawing/2014/main" id="{003D9BE2-21DA-4B07-BD81-CCEDAFBF6DD5}"/>
              </a:ext>
            </a:extLst>
          </p:cNvPr>
          <p:cNvSpPr>
            <a:spLocks xmlns:a="http://schemas.openxmlformats.org/drawingml/2006/main" noGrp="1"/>
          </p:cNvSpPr>
          <p:nvPr/>
        </p:nvSpPr>
        <p:spPr>
          <a:xfrm xmlns:a="http://schemas.openxmlformats.org/drawingml/2006/main">
            <a:off x="981075" y="574357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78909B"/>
                </a:solidFill>
                <a:latin typeface="Arial"/>
                <a:ea typeface="Arial"/>
                <a:cs typeface="Arial"/>
              </a:defRPr>
            </a:pPr>
            <a:r>
              <a:rPr sz="1275" b="0">
                <a:solidFill>
                  <a:srgbClr val="78909B"/>
                </a:solidFill>
                <a:latin typeface="Arial"/>
                <a:ea typeface="Arial"/>
                <a:cs typeface="Arial"/>
              </a:rPr>
              <a:t>Prototype overview  |  28 September 2026</a:t>
            </a:r>
          </a:p>
        </p:txBody>
      </p:sp>
      <p:sp>
        <p:nvSpPr>
          <p:cNvPr id="8" name="">
            <a:extLst xmlns:a="http://schemas.openxmlformats.org/drawingml/2006/main">
              <a:ext uri="{FF2B5EF4-FFF2-40B4-BE49-F238E27FC236}">
                <a16:creationId xmlns:a16="http://schemas.microsoft.com/office/drawing/2014/main" id="{E7386024-6CFF-4C49-B447-F0817C84AA07}"/>
              </a:ext>
            </a:extLst>
          </p:cNvPr>
          <p:cNvSpPr>
            <a:spLocks xmlns:a="http://schemas.openxmlformats.org/drawingml/2006/main" noGrp="1"/>
          </p:cNvSpPr>
          <p:nvPr/>
        </p:nvSpPr>
        <p:spPr>
          <a:xfrm xmlns:a="http://schemas.openxmlformats.org/drawingml/2006/main">
            <a:off x="9906000" y="56959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LOCAL PROTOTYPE</a:t>
            </a:r>
          </a:p>
        </p:txBody>
      </p:sp>
    </p:spTree>
    <p:extLst>
      <p:ext uri="{BB962C8B-B14F-4D97-AF65-F5344CB8AC3E}">
        <p14:creationId xmlns:p14="http://schemas.microsoft.com/office/powerpoint/2010/main" val="738829803"/>
      </p:ext>
    </p:extLst>
  </p:cSld>
</p:sld>
</file>

<file path=ppt/slides/slide2.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82416D0-072A-4108-83C5-CE6F638B4017}"/>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PURPOSE</a:t>
            </a:r>
          </a:p>
        </p:txBody>
      </p:sp>
      <p:sp>
        <p:nvSpPr>
          <p:cNvPr id="2" name="">
            <a:extLst xmlns:a="http://schemas.openxmlformats.org/drawingml/2006/main">
              <a:ext uri="{FF2B5EF4-FFF2-40B4-BE49-F238E27FC236}">
                <a16:creationId xmlns:a16="http://schemas.microsoft.com/office/drawing/2014/main" id="{1C67BABD-8CF4-4635-A6B8-F64D8C4B1D8B}"/>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Project goal and prototype scope</a:t>
            </a:r>
          </a:p>
        </p:txBody>
      </p:sp>
      <p:sp>
        <p:nvSpPr>
          <p:cNvPr id="3" name="">
            <a:extLst xmlns:a="http://schemas.openxmlformats.org/drawingml/2006/main">
              <a:ext uri="{FF2B5EF4-FFF2-40B4-BE49-F238E27FC236}">
                <a16:creationId xmlns:a16="http://schemas.microsoft.com/office/drawing/2014/main" id="{5ED3DBB5-9BEE-4441-B5B5-B8C945C4CE78}"/>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Help a control-room operator find and review vehicle sightings across authorised camera feeds.</a:t>
            </a:r>
          </a:p>
        </p:txBody>
      </p:sp>
      <p:sp>
        <p:nvSpPr>
          <p:cNvPr id="4" name="">
            <a:extLst xmlns:a="http://schemas.openxmlformats.org/drawingml/2006/main">
              <a:ext uri="{FF2B5EF4-FFF2-40B4-BE49-F238E27FC236}">
                <a16:creationId xmlns:a16="http://schemas.microsoft.com/office/drawing/2014/main" id="{ED002958-3782-4401-9DA6-768253296FF1}"/>
              </a:ext>
            </a:extLst>
          </p:cNvPr>
          <p:cNvSpPr>
            <a:spLocks xmlns:a="http://schemas.openxmlformats.org/drawingml/2006/main" noGrp="1"/>
          </p:cNvSpPr>
          <p:nvPr/>
        </p:nvSpPr>
        <p:spPr>
          <a:xfrm xmlns:a="http://schemas.openxmlformats.org/drawingml/2006/main">
            <a:off x="666750" y="2085975"/>
            <a:ext cx="4857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4BD2C0"/>
                </a:solidFill>
                <a:latin typeface="Arial"/>
                <a:ea typeface="Arial"/>
                <a:cs typeface="Arial"/>
              </a:defRPr>
            </a:pPr>
            <a:r>
              <a:rPr sz="1200" b="1">
                <a:solidFill>
                  <a:srgbClr val="4BD2C0"/>
                </a:solidFill>
                <a:latin typeface="Arial"/>
                <a:ea typeface="Arial"/>
                <a:cs typeface="Arial"/>
              </a:rPr>
              <a:t>THE OPERATIONAL NEED</a:t>
            </a:r>
          </a:p>
        </p:txBody>
      </p:sp>
      <p:sp>
        <p:nvSpPr>
          <p:cNvPr id="5" name="">
            <a:extLst xmlns:a="http://schemas.openxmlformats.org/drawingml/2006/main">
              <a:ext uri="{FF2B5EF4-FFF2-40B4-BE49-F238E27FC236}">
                <a16:creationId xmlns:a16="http://schemas.microsoft.com/office/drawing/2014/main" id="{EF8B9090-1996-4373-AA2F-1BBB33011220}"/>
              </a:ext>
            </a:extLst>
          </p:cNvPr>
          <p:cNvSpPr>
            <a:spLocks xmlns:a="http://schemas.openxmlformats.org/drawingml/2006/main" noGrp="1"/>
          </p:cNvSpPr>
          <p:nvPr/>
        </p:nvSpPr>
        <p:spPr>
          <a:xfrm xmlns:a="http://schemas.openxmlformats.org/drawingml/2006/main">
            <a:off x="666750" y="2476500"/>
            <a:ext cx="495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821"/>
          </a:bodyPr>
          <a:lstStyle xmlns:a="http://schemas.openxmlformats.org/drawingml/2006/main"/>
          <a:p xmlns:a="http://schemas.openxmlformats.org/drawingml/2006/main">
            <a:pPr algn="l">
              <a:lnSpc>
                <a:spcPct val="103000"/>
              </a:lnSpc>
              <a:buNone/>
              <a:defRPr sz="2325" b="1">
                <a:solidFill>
                  <a:srgbClr val="F3F5F6"/>
                </a:solidFill>
                <a:latin typeface="Arial"/>
                <a:ea typeface="Arial"/>
                <a:cs typeface="Arial"/>
              </a:defRPr>
            </a:pPr>
            <a:r>
              <a:rPr sz="2325" b="1">
                <a:solidFill>
                  <a:srgbClr val="F3F5F6"/>
                </a:solidFill>
                <a:latin typeface="Arial"/>
                <a:ea typeface="Arial"/>
                <a:cs typeface="Arial"/>
              </a:rPr>
              <a:t>Operators need a practical way to surface possible watchlist vehicles without watching every feed continuously.</a:t>
            </a:r>
          </a:p>
        </p:txBody>
      </p:sp>
      <p:sp>
        <p:nvSpPr>
          <p:cNvPr id="6" name="">
            <a:extLst xmlns:a="http://schemas.openxmlformats.org/drawingml/2006/main">
              <a:ext uri="{FF2B5EF4-FFF2-40B4-BE49-F238E27FC236}">
                <a16:creationId xmlns:a16="http://schemas.microsoft.com/office/drawing/2014/main" id="{A44D801D-FE84-4D25-96D0-75D591B1A990}"/>
              </a:ext>
            </a:extLst>
          </p:cNvPr>
          <p:cNvSpPr>
            <a:spLocks xmlns:a="http://schemas.openxmlformats.org/drawingml/2006/main" noGrp="1"/>
          </p:cNvSpPr>
          <p:nvPr/>
        </p:nvSpPr>
        <p:spPr>
          <a:xfrm xmlns:a="http://schemas.openxmlformats.org/drawingml/2006/main">
            <a:off x="6086475" y="2095500"/>
            <a:ext cx="9525" cy="3238500"/>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3D613B-8D29-4B30-910A-5B157AA046CD}"/>
              </a:ext>
            </a:extLst>
          </p:cNvPr>
          <p:cNvSpPr>
            <a:spLocks xmlns:a="http://schemas.openxmlformats.org/drawingml/2006/main" noGrp="1"/>
          </p:cNvSpPr>
          <p:nvPr/>
        </p:nvSpPr>
        <p:spPr>
          <a:xfrm xmlns:a="http://schemas.openxmlformats.org/drawingml/2006/main">
            <a:off x="6572250" y="20859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4BD2C0"/>
                </a:solidFill>
                <a:latin typeface="Arial"/>
                <a:ea typeface="Arial"/>
                <a:cs typeface="Arial"/>
              </a:defRPr>
            </a:pPr>
            <a:r>
              <a:rPr sz="1200" b="1">
                <a:solidFill>
                  <a:srgbClr val="4BD2C0"/>
                </a:solidFill>
                <a:latin typeface="Arial"/>
                <a:ea typeface="Arial"/>
                <a:cs typeface="Arial"/>
              </a:rPr>
              <a:t>WHAT THIS PROTOTYPE COVERS</a:t>
            </a:r>
          </a:p>
        </p:txBody>
      </p:sp>
      <p:sp>
        <p:nvSpPr>
          <p:cNvPr id="8" name="">
            <a:extLst xmlns:a="http://schemas.openxmlformats.org/drawingml/2006/main">
              <a:ext uri="{FF2B5EF4-FFF2-40B4-BE49-F238E27FC236}">
                <a16:creationId xmlns:a16="http://schemas.microsoft.com/office/drawing/2014/main" id="{37D5B486-9EA9-4658-9906-1E39DAC404F9}"/>
              </a:ext>
            </a:extLst>
          </p:cNvPr>
          <p:cNvSpPr>
            <a:spLocks xmlns:a="http://schemas.openxmlformats.org/drawingml/2006/main" noGrp="1"/>
          </p:cNvSpPr>
          <p:nvPr/>
        </p:nvSpPr>
        <p:spPr>
          <a:xfrm xmlns:a="http://schemas.openxmlformats.org/drawingml/2006/main">
            <a:off x="6572250" y="259080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3665F58-27A7-452C-B2B5-483D98641689}"/>
              </a:ext>
            </a:extLst>
          </p:cNvPr>
          <p:cNvSpPr>
            <a:spLocks xmlns:a="http://schemas.openxmlformats.org/drawingml/2006/main" noGrp="1"/>
          </p:cNvSpPr>
          <p:nvPr/>
        </p:nvSpPr>
        <p:spPr>
          <a:xfrm xmlns:a="http://schemas.openxmlformats.org/drawingml/2006/main">
            <a:off x="6762750" y="251460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Two selected live AI feeds</a:t>
            </a:r>
          </a:p>
        </p:txBody>
      </p:sp>
      <p:sp>
        <p:nvSpPr>
          <p:cNvPr id="10" name="">
            <a:extLst xmlns:a="http://schemas.openxmlformats.org/drawingml/2006/main">
              <a:ext uri="{FF2B5EF4-FFF2-40B4-BE49-F238E27FC236}">
                <a16:creationId xmlns:a16="http://schemas.microsoft.com/office/drawing/2014/main" id="{21D508B7-CADB-4DCC-9A75-BDA4AAE9F918}"/>
              </a:ext>
            </a:extLst>
          </p:cNvPr>
          <p:cNvSpPr>
            <a:spLocks xmlns:a="http://schemas.openxmlformats.org/drawingml/2006/main" noGrp="1"/>
          </p:cNvSpPr>
          <p:nvPr/>
        </p:nvSpPr>
        <p:spPr>
          <a:xfrm xmlns:a="http://schemas.openxmlformats.org/drawingml/2006/main">
            <a:off x="6762750" y="2800350"/>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CAM17 and CAM01 are the current configured pair.</a:t>
            </a:r>
          </a:p>
        </p:txBody>
      </p:sp>
      <p:sp>
        <p:nvSpPr>
          <p:cNvPr id="11" name="">
            <a:extLst xmlns:a="http://schemas.openxmlformats.org/drawingml/2006/main">
              <a:ext uri="{FF2B5EF4-FFF2-40B4-BE49-F238E27FC236}">
                <a16:creationId xmlns:a16="http://schemas.microsoft.com/office/drawing/2014/main" id="{7D0B33B9-B538-40C0-8F36-0B846C06B061}"/>
              </a:ext>
            </a:extLst>
          </p:cNvPr>
          <p:cNvSpPr>
            <a:spLocks xmlns:a="http://schemas.openxmlformats.org/drawingml/2006/main" noGrp="1"/>
          </p:cNvSpPr>
          <p:nvPr/>
        </p:nvSpPr>
        <p:spPr>
          <a:xfrm xmlns:a="http://schemas.openxmlformats.org/drawingml/2006/main">
            <a:off x="6572250" y="343852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BB7DCD6-F582-4652-BF64-AD8EEFB5F141}"/>
              </a:ext>
            </a:extLst>
          </p:cNvPr>
          <p:cNvSpPr>
            <a:spLocks xmlns:a="http://schemas.openxmlformats.org/drawingml/2006/main" noGrp="1"/>
          </p:cNvSpPr>
          <p:nvPr/>
        </p:nvSpPr>
        <p:spPr>
          <a:xfrm xmlns:a="http://schemas.openxmlformats.org/drawingml/2006/main">
            <a:off x="6762750" y="336232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Edge vehicle and plate analysis</a:t>
            </a:r>
          </a:p>
        </p:txBody>
      </p:sp>
      <p:sp>
        <p:nvSpPr>
          <p:cNvPr id="13" name="">
            <a:extLst xmlns:a="http://schemas.openxmlformats.org/drawingml/2006/main">
              <a:ext uri="{FF2B5EF4-FFF2-40B4-BE49-F238E27FC236}">
                <a16:creationId xmlns:a16="http://schemas.microsoft.com/office/drawing/2014/main" id="{D2C1A435-F609-4F6F-AAD0-1BCCCE207E5B}"/>
              </a:ext>
            </a:extLst>
          </p:cNvPr>
          <p:cNvSpPr>
            <a:spLocks xmlns:a="http://schemas.openxmlformats.org/drawingml/2006/main" noGrp="1"/>
          </p:cNvSpPr>
          <p:nvPr/>
        </p:nvSpPr>
        <p:spPr>
          <a:xfrm xmlns:a="http://schemas.openxmlformats.org/drawingml/2006/main">
            <a:off x="6762750" y="364807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Frames are sampled, vehicles are tracked, and OCR is combined across distinct frames.</a:t>
            </a:r>
          </a:p>
        </p:txBody>
      </p:sp>
      <p:sp>
        <p:nvSpPr>
          <p:cNvPr id="14" name="">
            <a:extLst xmlns:a="http://schemas.openxmlformats.org/drawingml/2006/main">
              <a:ext uri="{FF2B5EF4-FFF2-40B4-BE49-F238E27FC236}">
                <a16:creationId xmlns:a16="http://schemas.microsoft.com/office/drawing/2014/main" id="{94503010-8B8C-4292-9FAC-BAC71718B6F5}"/>
              </a:ext>
            </a:extLst>
          </p:cNvPr>
          <p:cNvSpPr>
            <a:spLocks xmlns:a="http://schemas.openxmlformats.org/drawingml/2006/main" noGrp="1"/>
          </p:cNvSpPr>
          <p:nvPr/>
        </p:nvSpPr>
        <p:spPr>
          <a:xfrm xmlns:a="http://schemas.openxmlformats.org/drawingml/2006/main">
            <a:off x="6572250" y="451485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9033B72-6341-4F0E-83C1-AB65483AE022}"/>
              </a:ext>
            </a:extLst>
          </p:cNvPr>
          <p:cNvSpPr>
            <a:spLocks xmlns:a="http://schemas.openxmlformats.org/drawingml/2006/main" noGrp="1"/>
          </p:cNvSpPr>
          <p:nvPr/>
        </p:nvSpPr>
        <p:spPr>
          <a:xfrm xmlns:a="http://schemas.openxmlformats.org/drawingml/2006/main">
            <a:off x="6762750" y="44386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Central operator workflow</a:t>
            </a:r>
          </a:p>
        </p:txBody>
      </p:sp>
      <p:sp>
        <p:nvSpPr>
          <p:cNvPr id="16" name="">
            <a:extLst xmlns:a="http://schemas.openxmlformats.org/drawingml/2006/main">
              <a:ext uri="{FF2B5EF4-FFF2-40B4-BE49-F238E27FC236}">
                <a16:creationId xmlns:a16="http://schemas.microsoft.com/office/drawing/2014/main" id="{0982EE80-7062-4A25-A3EC-630A37DC66A9}"/>
              </a:ext>
            </a:extLst>
          </p:cNvPr>
          <p:cNvSpPr>
            <a:spLocks xmlns:a="http://schemas.openxmlformats.org/drawingml/2006/main" noGrp="1"/>
          </p:cNvSpPr>
          <p:nvPr/>
        </p:nvSpPr>
        <p:spPr>
          <a:xfrm xmlns:a="http://schemas.openxmlformats.org/drawingml/2006/main">
            <a:off x="6762750" y="4724400"/>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Sightings, health, alerts, review actions and an offline demonstration.</a:t>
            </a:r>
          </a:p>
        </p:txBody>
      </p:sp>
      <p:sp>
        <p:nvSpPr>
          <p:cNvPr id="17" name="">
            <a:extLst xmlns:a="http://schemas.openxmlformats.org/drawingml/2006/main">
              <a:ext uri="{FF2B5EF4-FFF2-40B4-BE49-F238E27FC236}">
                <a16:creationId xmlns:a16="http://schemas.microsoft.com/office/drawing/2014/main" id="{4906F935-C147-44C3-A71A-EF153B425E71}"/>
              </a:ext>
            </a:extLst>
          </p:cNvPr>
          <p:cNvSpPr>
            <a:spLocks xmlns:a="http://schemas.openxmlformats.org/drawingml/2006/main" noGrp="1"/>
          </p:cNvSpPr>
          <p:nvPr/>
        </p:nvSpPr>
        <p:spPr>
          <a:xfrm xmlns:a="http://schemas.openxmlformats.org/drawingml/2006/main">
            <a:off x="666750" y="5010150"/>
            <a:ext cx="4810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F1B86D"/>
                </a:solidFill>
                <a:latin typeface="Arial"/>
                <a:ea typeface="Arial"/>
                <a:cs typeface="Arial"/>
              </a:defRPr>
            </a:pPr>
            <a:r>
              <a:rPr sz="1500" b="1">
                <a:solidFill>
                  <a:srgbClr val="F1B86D"/>
                </a:solidFill>
                <a:latin typeface="Arial"/>
                <a:ea typeface="Arial"/>
                <a:cs typeface="Arial"/>
              </a:rPr>
              <a:t>The 80,000-camera figure is a future deployment target. This laptop prototype has not demonstrated that capacity.</a:t>
            </a:r>
          </a:p>
        </p:txBody>
      </p:sp>
      <p:sp>
        <p:nvSpPr>
          <p:cNvPr id="18" name="">
            <a:extLst xmlns:a="http://schemas.openxmlformats.org/drawingml/2006/main">
              <a:ext uri="{FF2B5EF4-FFF2-40B4-BE49-F238E27FC236}">
                <a16:creationId xmlns:a16="http://schemas.microsoft.com/office/drawing/2014/main" id="{7D3F866E-0D3E-4BF6-9D9F-FD5102F10C20}"/>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DDE99D8-45DF-4A21-BEA3-7E0A042CEFAD}"/>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20" name="">
            <a:extLst xmlns:a="http://schemas.openxmlformats.org/drawingml/2006/main">
              <a:ext uri="{FF2B5EF4-FFF2-40B4-BE49-F238E27FC236}">
                <a16:creationId xmlns:a16="http://schemas.microsoft.com/office/drawing/2014/main" id="{66B36C9D-C1C2-4251-A9A1-807E7E61DF9A}"/>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02</a:t>
            </a:r>
          </a:p>
        </p:txBody>
      </p:sp>
    </p:spTree>
    <p:extLst>
      <p:ext uri="{BB962C8B-B14F-4D97-AF65-F5344CB8AC3E}">
        <p14:creationId xmlns:p14="http://schemas.microsoft.com/office/powerpoint/2010/main" val="465038805"/>
      </p:ext>
    </p:extLst>
  </p:cSld>
</p:sld>
</file>

<file path=ppt/slides/slide3.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EF001D1-7210-4189-B3C7-DD70B4AC9D63}"/>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SOLUTION MODEL</a:t>
            </a:r>
          </a:p>
        </p:txBody>
      </p:sp>
      <p:sp>
        <p:nvSpPr>
          <p:cNvPr id="2" name="">
            <a:extLst xmlns:a="http://schemas.openxmlformats.org/drawingml/2006/main">
              <a:ext uri="{FF2B5EF4-FFF2-40B4-BE49-F238E27FC236}">
                <a16:creationId xmlns:a16="http://schemas.microsoft.com/office/drawing/2014/main" id="{9A2F1C78-C451-4179-A719-906F6B04BD99}"/>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Hybrid edge-to-central architecture</a:t>
            </a:r>
          </a:p>
        </p:txBody>
      </p:sp>
      <p:sp>
        <p:nvSpPr>
          <p:cNvPr id="3" name="">
            <a:extLst xmlns:a="http://schemas.openxmlformats.org/drawingml/2006/main">
              <a:ext uri="{FF2B5EF4-FFF2-40B4-BE49-F238E27FC236}">
                <a16:creationId xmlns:a16="http://schemas.microsoft.com/office/drawing/2014/main" id="{CBECBB08-970B-4864-B50C-50519DEDFC9C}"/>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Video stays near the edge for analysis. Compact event data flows to the central service.</a:t>
            </a:r>
          </a:p>
        </p:txBody>
      </p:sp>
      <p:sp>
        <p:nvSpPr>
          <p:cNvPr id="4" name="architecture-0">
            <a:extLst xmlns:a="http://schemas.openxmlformats.org/drawingml/2006/main">
              <a:ext uri="{FF2B5EF4-FFF2-40B4-BE49-F238E27FC236}">
                <a16:creationId xmlns:a16="http://schemas.microsoft.com/office/drawing/2014/main" id="{3193D572-87F1-4BA0-860D-D5EA71EFC78B}"/>
              </a:ext>
            </a:extLst>
          </p:cNvPr>
          <p:cNvSpPr>
            <a:spLocks xmlns:a="http://schemas.openxmlformats.org/drawingml/2006/main" noGrp="1"/>
          </p:cNvSpPr>
          <p:nvPr/>
        </p:nvSpPr>
        <p:spPr>
          <a:xfrm xmlns:a="http://schemas.openxmlformats.org/drawingml/2006/main">
            <a:off x="628650" y="2276475"/>
            <a:ext cx="2343150" cy="2381250"/>
          </a:xfrm>
          <a:prstGeom xmlns:a="http://schemas.openxmlformats.org/drawingml/2006/main" prst="rect">
            <a:avLst/>
          </a:prstGeom>
          <a:solidFill xmlns:a="http://schemas.openxmlformats.org/drawingml/2006/main">
            <a:srgbClr val="101E2B"/>
          </a:solidFill>
          <a:ln xmlns:a="http://schemas.openxmlformats.org/drawingml/2006/main" w="9525">
            <a:solidFill>
              <a:srgbClr val="304553"/>
            </a:solidFill>
            <a:prstDash val="solid"/>
          </a:ln>
        </p:spPr>
      </p:sp>
      <p:sp>
        <p:nvSpPr>
          <p:cNvPr id="5" name="">
            <a:extLst xmlns:a="http://schemas.openxmlformats.org/drawingml/2006/main">
              <a:ext uri="{FF2B5EF4-FFF2-40B4-BE49-F238E27FC236}">
                <a16:creationId xmlns:a16="http://schemas.microsoft.com/office/drawing/2014/main" id="{7AF812ED-8A92-4E99-A936-A184DBB571AD}"/>
              </a:ext>
            </a:extLst>
          </p:cNvPr>
          <p:cNvSpPr>
            <a:spLocks xmlns:a="http://schemas.openxmlformats.org/drawingml/2006/main" noGrp="1"/>
          </p:cNvSpPr>
          <p:nvPr/>
        </p:nvSpPr>
        <p:spPr>
          <a:xfrm xmlns:a="http://schemas.openxmlformats.org/drawingml/2006/main">
            <a:off x="628650" y="2276475"/>
            <a:ext cx="47625" cy="2381250"/>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AB9F615-4B56-4DA8-AE60-5D3A97FF316B}"/>
              </a:ext>
            </a:extLst>
          </p:cNvPr>
          <p:cNvSpPr>
            <a:spLocks xmlns:a="http://schemas.openxmlformats.org/drawingml/2006/main" noGrp="1"/>
          </p:cNvSpPr>
          <p:nvPr/>
        </p:nvSpPr>
        <p:spPr>
          <a:xfrm xmlns:a="http://schemas.openxmlformats.org/drawingml/2006/main">
            <a:off x="828675" y="248602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4BD2C0"/>
                </a:solidFill>
                <a:latin typeface="Arial"/>
                <a:ea typeface="Arial"/>
                <a:cs typeface="Arial"/>
              </a:defRPr>
            </a:pPr>
            <a:r>
              <a:rPr sz="1650" b="1">
                <a:solidFill>
                  <a:srgbClr val="4BD2C0"/>
                </a:solidFill>
                <a:latin typeface="Arial"/>
                <a:ea typeface="Arial"/>
                <a:cs typeface="Arial"/>
              </a:rPr>
              <a:t>Sentinel feeds</a:t>
            </a:r>
          </a:p>
        </p:txBody>
      </p:sp>
      <p:sp>
        <p:nvSpPr>
          <p:cNvPr id="7" name="">
            <a:extLst xmlns:a="http://schemas.openxmlformats.org/drawingml/2006/main">
              <a:ext uri="{FF2B5EF4-FFF2-40B4-BE49-F238E27FC236}">
                <a16:creationId xmlns:a16="http://schemas.microsoft.com/office/drawing/2014/main" id="{3A3D4214-4970-4F0B-97A8-E2AA7D9F0740}"/>
              </a:ext>
            </a:extLst>
          </p:cNvPr>
          <p:cNvSpPr>
            <a:spLocks xmlns:a="http://schemas.openxmlformats.org/drawingml/2006/main" noGrp="1"/>
          </p:cNvSpPr>
          <p:nvPr/>
        </p:nvSpPr>
        <p:spPr>
          <a:xfrm xmlns:a="http://schemas.openxmlformats.org/drawingml/2006/main">
            <a:off x="828675" y="2933700"/>
            <a:ext cx="19431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F3C048F-F3E0-4626-A976-77ACB5C3E72B}"/>
              </a:ext>
            </a:extLst>
          </p:cNvPr>
          <p:cNvSpPr>
            <a:spLocks xmlns:a="http://schemas.openxmlformats.org/drawingml/2006/main" noGrp="1"/>
          </p:cNvSpPr>
          <p:nvPr/>
        </p:nvSpPr>
        <p:spPr>
          <a:xfrm xmlns:a="http://schemas.openxmlformats.org/drawingml/2006/main">
            <a:off x="828675" y="3143250"/>
            <a:ext cx="19812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Authorised camera catalogue</a:t>
            </a:r>
          </a:p>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RTSP over TCP or HLS</a:t>
            </a:r>
          </a:p>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Live timestamps and health</a:t>
            </a:r>
          </a:p>
        </p:txBody>
      </p:sp>
      <p:sp>
        <p:nvSpPr>
          <p:cNvPr id="9" name="">
            <a:extLst xmlns:a="http://schemas.openxmlformats.org/drawingml/2006/main">
              <a:ext uri="{FF2B5EF4-FFF2-40B4-BE49-F238E27FC236}">
                <a16:creationId xmlns:a16="http://schemas.microsoft.com/office/drawing/2014/main" id="{4969BAF6-9E93-42CB-BD17-BF1393CB0E24}"/>
              </a:ext>
            </a:extLst>
          </p:cNvPr>
          <p:cNvSpPr>
            <a:spLocks xmlns:a="http://schemas.openxmlformats.org/drawingml/2006/main" noGrp="1"/>
          </p:cNvSpPr>
          <p:nvPr/>
        </p:nvSpPr>
        <p:spPr>
          <a:xfrm xmlns:a="http://schemas.openxmlformats.org/drawingml/2006/main">
            <a:off x="3086100" y="3400425"/>
            <a:ext cx="266700" cy="190500"/>
          </a:xfrm>
          <a:prstGeom xmlns:a="http://schemas.openxmlformats.org/drawingml/2006/main" prst="rightArrow">
            <a:avLst/>
          </a:prstGeom>
          <a:solidFill xmlns:a="http://schemas.openxmlformats.org/drawingml/2006/main">
            <a:srgbClr val="4BD2C0"/>
          </a:solidFill>
          <a:ln xmlns:a="http://schemas.openxmlformats.org/drawingml/2006/main" w="0">
            <a:noFill/>
            <a:prstDash val="solid"/>
          </a:ln>
        </p:spPr>
      </p:sp>
      <p:sp>
        <p:nvSpPr>
          <p:cNvPr id="10" name="architecture-1">
            <a:extLst xmlns:a="http://schemas.openxmlformats.org/drawingml/2006/main">
              <a:ext uri="{FF2B5EF4-FFF2-40B4-BE49-F238E27FC236}">
                <a16:creationId xmlns:a16="http://schemas.microsoft.com/office/drawing/2014/main" id="{681B1433-A95C-4784-86E0-9D48573720BC}"/>
              </a:ext>
            </a:extLst>
          </p:cNvPr>
          <p:cNvSpPr>
            <a:spLocks xmlns:a="http://schemas.openxmlformats.org/drawingml/2006/main" noGrp="1"/>
          </p:cNvSpPr>
          <p:nvPr/>
        </p:nvSpPr>
        <p:spPr>
          <a:xfrm xmlns:a="http://schemas.openxmlformats.org/drawingml/2006/main">
            <a:off x="3562350" y="2276475"/>
            <a:ext cx="2343150" cy="2381250"/>
          </a:xfrm>
          <a:prstGeom xmlns:a="http://schemas.openxmlformats.org/drawingml/2006/main" prst="rect">
            <a:avLst/>
          </a:prstGeom>
          <a:solidFill xmlns:a="http://schemas.openxmlformats.org/drawingml/2006/main">
            <a:srgbClr val="101E2B"/>
          </a:solidFill>
          <a:ln xmlns:a="http://schemas.openxmlformats.org/drawingml/2006/main" w="9525">
            <a:solidFill>
              <a:srgbClr val="304553"/>
            </a:solidFill>
            <a:prstDash val="solid"/>
          </a:ln>
        </p:spPr>
      </p:sp>
      <p:sp>
        <p:nvSpPr>
          <p:cNvPr id="11" name="">
            <a:extLst xmlns:a="http://schemas.openxmlformats.org/drawingml/2006/main">
              <a:ext uri="{FF2B5EF4-FFF2-40B4-BE49-F238E27FC236}">
                <a16:creationId xmlns:a16="http://schemas.microsoft.com/office/drawing/2014/main" id="{54AF3BF1-6E23-4486-A6DE-32FB6151A772}"/>
              </a:ext>
            </a:extLst>
          </p:cNvPr>
          <p:cNvSpPr>
            <a:spLocks xmlns:a="http://schemas.openxmlformats.org/drawingml/2006/main" noGrp="1"/>
          </p:cNvSpPr>
          <p:nvPr/>
        </p:nvSpPr>
        <p:spPr>
          <a:xfrm xmlns:a="http://schemas.openxmlformats.org/drawingml/2006/main">
            <a:off x="3562350" y="2276475"/>
            <a:ext cx="47625" cy="2381250"/>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2F20666-1320-458F-B089-9D14075FB717}"/>
              </a:ext>
            </a:extLst>
          </p:cNvPr>
          <p:cNvSpPr>
            <a:spLocks xmlns:a="http://schemas.openxmlformats.org/drawingml/2006/main" noGrp="1"/>
          </p:cNvSpPr>
          <p:nvPr/>
        </p:nvSpPr>
        <p:spPr>
          <a:xfrm xmlns:a="http://schemas.openxmlformats.org/drawingml/2006/main">
            <a:off x="3762375" y="248602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4BD2C0"/>
                </a:solidFill>
                <a:latin typeface="Arial"/>
                <a:ea typeface="Arial"/>
                <a:cs typeface="Arial"/>
              </a:defRPr>
            </a:pPr>
            <a:r>
              <a:rPr sz="1650" b="1">
                <a:solidFill>
                  <a:srgbClr val="4BD2C0"/>
                </a:solidFill>
                <a:latin typeface="Arial"/>
                <a:ea typeface="Arial"/>
                <a:cs typeface="Arial"/>
              </a:rPr>
              <a:t>Regional edge</a:t>
            </a:r>
          </a:p>
        </p:txBody>
      </p:sp>
      <p:sp>
        <p:nvSpPr>
          <p:cNvPr id="13" name="">
            <a:extLst xmlns:a="http://schemas.openxmlformats.org/drawingml/2006/main">
              <a:ext uri="{FF2B5EF4-FFF2-40B4-BE49-F238E27FC236}">
                <a16:creationId xmlns:a16="http://schemas.microsoft.com/office/drawing/2014/main" id="{D0A756B7-7CCB-4467-89CC-41C74DF628A4}"/>
              </a:ext>
            </a:extLst>
          </p:cNvPr>
          <p:cNvSpPr>
            <a:spLocks xmlns:a="http://schemas.openxmlformats.org/drawingml/2006/main" noGrp="1"/>
          </p:cNvSpPr>
          <p:nvPr/>
        </p:nvSpPr>
        <p:spPr>
          <a:xfrm xmlns:a="http://schemas.openxmlformats.org/drawingml/2006/main">
            <a:off x="3762375" y="2933700"/>
            <a:ext cx="19431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80146B-C247-475B-A067-056F38F74FA7}"/>
              </a:ext>
            </a:extLst>
          </p:cNvPr>
          <p:cNvSpPr>
            <a:spLocks xmlns:a="http://schemas.openxmlformats.org/drawingml/2006/main" noGrp="1"/>
          </p:cNvSpPr>
          <p:nvPr/>
        </p:nvSpPr>
        <p:spPr>
          <a:xfrm xmlns:a="http://schemas.openxmlformats.org/drawingml/2006/main">
            <a:off x="3762375" y="3143250"/>
            <a:ext cx="19812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FFmpeg / PyAV decode</a:t>
            </a:r>
          </a:p>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Sample frames</a:t>
            </a:r>
          </a:p>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YOLO vehicle detection</a:t>
            </a:r>
          </a:p>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ByteTrack vehicle history</a:t>
            </a:r>
          </a:p>
        </p:txBody>
      </p:sp>
      <p:sp>
        <p:nvSpPr>
          <p:cNvPr id="15" name="">
            <a:extLst xmlns:a="http://schemas.openxmlformats.org/drawingml/2006/main">
              <a:ext uri="{FF2B5EF4-FFF2-40B4-BE49-F238E27FC236}">
                <a16:creationId xmlns:a16="http://schemas.microsoft.com/office/drawing/2014/main" id="{5CF06245-C77C-440B-84EE-13952D9B2D19}"/>
              </a:ext>
            </a:extLst>
          </p:cNvPr>
          <p:cNvSpPr>
            <a:spLocks xmlns:a="http://schemas.openxmlformats.org/drawingml/2006/main" noGrp="1"/>
          </p:cNvSpPr>
          <p:nvPr/>
        </p:nvSpPr>
        <p:spPr>
          <a:xfrm xmlns:a="http://schemas.openxmlformats.org/drawingml/2006/main">
            <a:off x="6019800" y="3400425"/>
            <a:ext cx="266700" cy="190500"/>
          </a:xfrm>
          <a:prstGeom xmlns:a="http://schemas.openxmlformats.org/drawingml/2006/main" prst="rightArrow">
            <a:avLst/>
          </a:prstGeom>
          <a:solidFill xmlns:a="http://schemas.openxmlformats.org/drawingml/2006/main">
            <a:srgbClr val="4BD2C0"/>
          </a:solidFill>
          <a:ln xmlns:a="http://schemas.openxmlformats.org/drawingml/2006/main" w="0">
            <a:noFill/>
            <a:prstDash val="solid"/>
          </a:ln>
        </p:spPr>
      </p:sp>
      <p:sp>
        <p:nvSpPr>
          <p:cNvPr id="16" name="architecture-2">
            <a:extLst xmlns:a="http://schemas.openxmlformats.org/drawingml/2006/main">
              <a:ext uri="{FF2B5EF4-FFF2-40B4-BE49-F238E27FC236}">
                <a16:creationId xmlns:a16="http://schemas.microsoft.com/office/drawing/2014/main" id="{B2CAA03B-D4BD-47C9-BB7B-DBDA95DA30DA}"/>
              </a:ext>
            </a:extLst>
          </p:cNvPr>
          <p:cNvSpPr>
            <a:spLocks xmlns:a="http://schemas.openxmlformats.org/drawingml/2006/main" noGrp="1"/>
          </p:cNvSpPr>
          <p:nvPr/>
        </p:nvSpPr>
        <p:spPr>
          <a:xfrm xmlns:a="http://schemas.openxmlformats.org/drawingml/2006/main">
            <a:off x="6496050" y="2276475"/>
            <a:ext cx="2343150" cy="2381250"/>
          </a:xfrm>
          <a:prstGeom xmlns:a="http://schemas.openxmlformats.org/drawingml/2006/main" prst="rect">
            <a:avLst/>
          </a:prstGeom>
          <a:solidFill xmlns:a="http://schemas.openxmlformats.org/drawingml/2006/main">
            <a:srgbClr val="101E2B"/>
          </a:solidFill>
          <a:ln xmlns:a="http://schemas.openxmlformats.org/drawingml/2006/main" w="9525">
            <a:solidFill>
              <a:srgbClr val="304553"/>
            </a:solidFill>
            <a:prstDash val="solid"/>
          </a:ln>
        </p:spPr>
      </p:sp>
      <p:sp>
        <p:nvSpPr>
          <p:cNvPr id="17" name="">
            <a:extLst xmlns:a="http://schemas.openxmlformats.org/drawingml/2006/main">
              <a:ext uri="{FF2B5EF4-FFF2-40B4-BE49-F238E27FC236}">
                <a16:creationId xmlns:a16="http://schemas.microsoft.com/office/drawing/2014/main" id="{F506713D-6726-4D7A-8EFD-D0754CD0F832}"/>
              </a:ext>
            </a:extLst>
          </p:cNvPr>
          <p:cNvSpPr>
            <a:spLocks xmlns:a="http://schemas.openxmlformats.org/drawingml/2006/main" noGrp="1"/>
          </p:cNvSpPr>
          <p:nvPr/>
        </p:nvSpPr>
        <p:spPr>
          <a:xfrm xmlns:a="http://schemas.openxmlformats.org/drawingml/2006/main">
            <a:off x="6496050" y="2276475"/>
            <a:ext cx="47625" cy="2381250"/>
          </a:xfrm>
          <a:prstGeom xmlns:a="http://schemas.openxmlformats.org/drawingml/2006/main" prst="rect">
            <a:avLst/>
          </a:prstGeom>
          <a:solidFill xmlns:a="http://schemas.openxmlformats.org/drawingml/2006/main">
            <a:srgbClr val="F1B86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0E9E861-B6DE-4CFC-8EA8-611B35405E74}"/>
              </a:ext>
            </a:extLst>
          </p:cNvPr>
          <p:cNvSpPr>
            <a:spLocks xmlns:a="http://schemas.openxmlformats.org/drawingml/2006/main" noGrp="1"/>
          </p:cNvSpPr>
          <p:nvPr/>
        </p:nvSpPr>
        <p:spPr>
          <a:xfrm xmlns:a="http://schemas.openxmlformats.org/drawingml/2006/main">
            <a:off x="6696075" y="248602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1B86D"/>
                </a:solidFill>
                <a:latin typeface="Arial"/>
                <a:ea typeface="Arial"/>
                <a:cs typeface="Arial"/>
              </a:defRPr>
            </a:pPr>
            <a:r>
              <a:rPr sz="1650" b="1">
                <a:solidFill>
                  <a:srgbClr val="F1B86D"/>
                </a:solidFill>
                <a:latin typeface="Arial"/>
                <a:ea typeface="Arial"/>
                <a:cs typeface="Arial"/>
              </a:rPr>
              <a:t>Plate intelligence</a:t>
            </a:r>
          </a:p>
        </p:txBody>
      </p:sp>
      <p:sp>
        <p:nvSpPr>
          <p:cNvPr id="19" name="">
            <a:extLst xmlns:a="http://schemas.openxmlformats.org/drawingml/2006/main">
              <a:ext uri="{FF2B5EF4-FFF2-40B4-BE49-F238E27FC236}">
                <a16:creationId xmlns:a16="http://schemas.microsoft.com/office/drawing/2014/main" id="{5E10549E-7A43-4C34-B51A-CD431A719E91}"/>
              </a:ext>
            </a:extLst>
          </p:cNvPr>
          <p:cNvSpPr>
            <a:spLocks xmlns:a="http://schemas.openxmlformats.org/drawingml/2006/main" noGrp="1"/>
          </p:cNvSpPr>
          <p:nvPr/>
        </p:nvSpPr>
        <p:spPr>
          <a:xfrm xmlns:a="http://schemas.openxmlformats.org/drawingml/2006/main">
            <a:off x="6696075" y="2933700"/>
            <a:ext cx="19431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D25A501-DC70-4CEF-93ED-8445825215AF}"/>
              </a:ext>
            </a:extLst>
          </p:cNvPr>
          <p:cNvSpPr>
            <a:spLocks xmlns:a="http://schemas.openxmlformats.org/drawingml/2006/main" noGrp="1"/>
          </p:cNvSpPr>
          <p:nvPr/>
        </p:nvSpPr>
        <p:spPr>
          <a:xfrm xmlns:a="http://schemas.openxmlformats.org/drawingml/2006/main">
            <a:off x="6696075" y="3143250"/>
            <a:ext cx="19812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19"/>
          </a:bodyPr>
          <a:lstStyle xmlns:a="http://schemas.openxmlformats.org/drawingml/2006/main"/>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Plate localisation and crop</a:t>
            </a:r>
          </a:p>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Per-frame OCR</a:t>
            </a:r>
          </a:p>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Multi-frame candidate ranking</a:t>
            </a:r>
          </a:p>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SQLite retry outbox</a:t>
            </a:r>
          </a:p>
        </p:txBody>
      </p:sp>
      <p:sp>
        <p:nvSpPr>
          <p:cNvPr id="21" name="">
            <a:extLst xmlns:a="http://schemas.openxmlformats.org/drawingml/2006/main">
              <a:ext uri="{FF2B5EF4-FFF2-40B4-BE49-F238E27FC236}">
                <a16:creationId xmlns:a16="http://schemas.microsoft.com/office/drawing/2014/main" id="{F216F857-B93D-4211-A9C4-A2C897B99590}"/>
              </a:ext>
            </a:extLst>
          </p:cNvPr>
          <p:cNvSpPr>
            <a:spLocks xmlns:a="http://schemas.openxmlformats.org/drawingml/2006/main" noGrp="1"/>
          </p:cNvSpPr>
          <p:nvPr/>
        </p:nvSpPr>
        <p:spPr>
          <a:xfrm xmlns:a="http://schemas.openxmlformats.org/drawingml/2006/main">
            <a:off x="8953500" y="3400425"/>
            <a:ext cx="266700" cy="190500"/>
          </a:xfrm>
          <a:prstGeom xmlns:a="http://schemas.openxmlformats.org/drawingml/2006/main" prst="rightArrow">
            <a:avLst/>
          </a:prstGeom>
          <a:solidFill xmlns:a="http://schemas.openxmlformats.org/drawingml/2006/main">
            <a:srgbClr val="4BD2C0"/>
          </a:solidFill>
          <a:ln xmlns:a="http://schemas.openxmlformats.org/drawingml/2006/main" w="0">
            <a:noFill/>
            <a:prstDash val="solid"/>
          </a:ln>
        </p:spPr>
      </p:sp>
      <p:sp>
        <p:nvSpPr>
          <p:cNvPr id="22" name="architecture-3">
            <a:extLst xmlns:a="http://schemas.openxmlformats.org/drawingml/2006/main">
              <a:ext uri="{FF2B5EF4-FFF2-40B4-BE49-F238E27FC236}">
                <a16:creationId xmlns:a16="http://schemas.microsoft.com/office/drawing/2014/main" id="{44F38628-F9EA-45E1-8E42-BE1D6B266A0F}"/>
              </a:ext>
            </a:extLst>
          </p:cNvPr>
          <p:cNvSpPr>
            <a:spLocks xmlns:a="http://schemas.openxmlformats.org/drawingml/2006/main" noGrp="1"/>
          </p:cNvSpPr>
          <p:nvPr/>
        </p:nvSpPr>
        <p:spPr>
          <a:xfrm xmlns:a="http://schemas.openxmlformats.org/drawingml/2006/main">
            <a:off x="9429750" y="2276475"/>
            <a:ext cx="2343150" cy="2381250"/>
          </a:xfrm>
          <a:prstGeom xmlns:a="http://schemas.openxmlformats.org/drawingml/2006/main" prst="rect">
            <a:avLst/>
          </a:prstGeom>
          <a:solidFill xmlns:a="http://schemas.openxmlformats.org/drawingml/2006/main">
            <a:srgbClr val="101E2B"/>
          </a:solidFill>
          <a:ln xmlns:a="http://schemas.openxmlformats.org/drawingml/2006/main" w="9525">
            <a:solidFill>
              <a:srgbClr val="304553"/>
            </a:solidFill>
            <a:prstDash val="solid"/>
          </a:ln>
        </p:spPr>
      </p:sp>
      <p:sp>
        <p:nvSpPr>
          <p:cNvPr id="23" name="">
            <a:extLst xmlns:a="http://schemas.openxmlformats.org/drawingml/2006/main">
              <a:ext uri="{FF2B5EF4-FFF2-40B4-BE49-F238E27FC236}">
                <a16:creationId xmlns:a16="http://schemas.microsoft.com/office/drawing/2014/main" id="{1B5FE851-8C9D-49DC-9AF1-E5BE9DC15F4D}"/>
              </a:ext>
            </a:extLst>
          </p:cNvPr>
          <p:cNvSpPr>
            <a:spLocks xmlns:a="http://schemas.openxmlformats.org/drawingml/2006/main" noGrp="1"/>
          </p:cNvSpPr>
          <p:nvPr/>
        </p:nvSpPr>
        <p:spPr>
          <a:xfrm xmlns:a="http://schemas.openxmlformats.org/drawingml/2006/main">
            <a:off x="9429750" y="2276475"/>
            <a:ext cx="47625" cy="2381250"/>
          </a:xfrm>
          <a:prstGeom xmlns:a="http://schemas.openxmlformats.org/drawingml/2006/main" prst="rect">
            <a:avLst/>
          </a:prstGeom>
          <a:solidFill xmlns:a="http://schemas.openxmlformats.org/drawingml/2006/main">
            <a:srgbClr val="78D2A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40E4DCD-E7DD-4E19-BE0E-F83413A1A7D1}"/>
              </a:ext>
            </a:extLst>
          </p:cNvPr>
          <p:cNvSpPr>
            <a:spLocks xmlns:a="http://schemas.openxmlformats.org/drawingml/2006/main" noGrp="1"/>
          </p:cNvSpPr>
          <p:nvPr/>
        </p:nvSpPr>
        <p:spPr>
          <a:xfrm xmlns:a="http://schemas.openxmlformats.org/drawingml/2006/main">
            <a:off x="9629775" y="248602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78D2A1"/>
                </a:solidFill>
                <a:latin typeface="Arial"/>
                <a:ea typeface="Arial"/>
                <a:cs typeface="Arial"/>
              </a:defRPr>
            </a:pPr>
            <a:r>
              <a:rPr sz="1650" b="1">
                <a:solidFill>
                  <a:srgbClr val="78D2A1"/>
                </a:solidFill>
                <a:latin typeface="Arial"/>
                <a:ea typeface="Arial"/>
                <a:cs typeface="Arial"/>
              </a:rPr>
              <a:t>Central operations</a:t>
            </a:r>
          </a:p>
        </p:txBody>
      </p:sp>
      <p:sp>
        <p:nvSpPr>
          <p:cNvPr id="25" name="">
            <a:extLst xmlns:a="http://schemas.openxmlformats.org/drawingml/2006/main">
              <a:ext uri="{FF2B5EF4-FFF2-40B4-BE49-F238E27FC236}">
                <a16:creationId xmlns:a16="http://schemas.microsoft.com/office/drawing/2014/main" id="{E6CAB07C-B073-4F6F-9D29-6D9B0AF424EE}"/>
              </a:ext>
            </a:extLst>
          </p:cNvPr>
          <p:cNvSpPr>
            <a:spLocks xmlns:a="http://schemas.openxmlformats.org/drawingml/2006/main" noGrp="1"/>
          </p:cNvSpPr>
          <p:nvPr/>
        </p:nvSpPr>
        <p:spPr>
          <a:xfrm xmlns:a="http://schemas.openxmlformats.org/drawingml/2006/main">
            <a:off x="9629775" y="2933700"/>
            <a:ext cx="19431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E652E00-DC6D-4427-8421-71461F6B33EF}"/>
              </a:ext>
            </a:extLst>
          </p:cNvPr>
          <p:cNvSpPr>
            <a:spLocks xmlns:a="http://schemas.openxmlformats.org/drawingml/2006/main" noGrp="1"/>
          </p:cNvSpPr>
          <p:nvPr/>
        </p:nvSpPr>
        <p:spPr>
          <a:xfrm xmlns:a="http://schemas.openxmlformats.org/drawingml/2006/main">
            <a:off x="9629775" y="3143250"/>
            <a:ext cx="19812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FastAPI and PostgreSQL</a:t>
            </a:r>
          </a:p>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Watchlist match and audit</a:t>
            </a:r>
          </a:p>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WebSocket alerts</a:t>
            </a:r>
          </a:p>
          <a:p xmlns:a="http://schemas.openxmlformats.org/drawingml/2006/main">
            <a:pPr algn="l">
              <a:lnSpc>
                <a:spcPct val="114000"/>
              </a:lnSpc>
              <a:buNone/>
              <a:defRPr sz="1350" b="0">
                <a:solidFill>
                  <a:srgbClr val="F3F5F6"/>
                </a:solidFill>
                <a:latin typeface="Arial"/>
                <a:ea typeface="Arial"/>
                <a:cs typeface="Arial"/>
              </a:defRPr>
            </a:pPr>
            <a:r>
              <a:rPr sz="1350" b="0">
                <a:solidFill>
                  <a:srgbClr val="F3F5F6"/>
                </a:solidFill>
                <a:latin typeface="Arial"/>
                <a:ea typeface="Arial"/>
                <a:cs typeface="Arial"/>
              </a:rPr>
              <a:t>Operator dashboard</a:t>
            </a:r>
          </a:p>
        </p:txBody>
      </p:sp>
      <p:sp>
        <p:nvSpPr>
          <p:cNvPr id="27" name="">
            <a:extLst xmlns:a="http://schemas.openxmlformats.org/drawingml/2006/main">
              <a:ext uri="{FF2B5EF4-FFF2-40B4-BE49-F238E27FC236}">
                <a16:creationId xmlns:a16="http://schemas.microsoft.com/office/drawing/2014/main" id="{5D0F5C48-FC06-44D9-91CB-6FB74D637057}"/>
              </a:ext>
            </a:extLst>
          </p:cNvPr>
          <p:cNvSpPr>
            <a:spLocks xmlns:a="http://schemas.openxmlformats.org/drawingml/2006/main" noGrp="1"/>
          </p:cNvSpPr>
          <p:nvPr/>
        </p:nvSpPr>
        <p:spPr>
          <a:xfrm xmlns:a="http://schemas.openxmlformats.org/drawingml/2006/main">
            <a:off x="666750" y="49625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F1B86D"/>
                </a:solidFill>
                <a:latin typeface="Arial"/>
                <a:ea typeface="Arial"/>
                <a:cs typeface="Arial"/>
              </a:defRPr>
            </a:pPr>
            <a:r>
              <a:rPr sz="1125" b="1">
                <a:solidFill>
                  <a:srgbClr val="F1B86D"/>
                </a:solidFill>
                <a:latin typeface="Arial"/>
                <a:ea typeface="Arial"/>
                <a:cs typeface="Arial"/>
              </a:rPr>
              <a:t>OFFLINE DEMONSTRATION</a:t>
            </a:r>
          </a:p>
        </p:txBody>
      </p:sp>
      <p:sp>
        <p:nvSpPr>
          <p:cNvPr id="28" name="">
            <a:extLst xmlns:a="http://schemas.openxmlformats.org/drawingml/2006/main">
              <a:ext uri="{FF2B5EF4-FFF2-40B4-BE49-F238E27FC236}">
                <a16:creationId xmlns:a16="http://schemas.microsoft.com/office/drawing/2014/main" id="{D1D287C9-2AD3-4F23-A37C-C9DEDEC4135A}"/>
              </a:ext>
            </a:extLst>
          </p:cNvPr>
          <p:cNvSpPr>
            <a:spLocks xmlns:a="http://schemas.openxmlformats.org/drawingml/2006/main" noGrp="1"/>
          </p:cNvSpPr>
          <p:nvPr/>
        </p:nvSpPr>
        <p:spPr>
          <a:xfrm xmlns:a="http://schemas.openxmlformats.org/drawingml/2006/main">
            <a:off x="3209925" y="5095875"/>
            <a:ext cx="4238625" cy="19050"/>
          </a:xfrm>
          <a:prstGeom xmlns:a="http://schemas.openxmlformats.org/drawingml/2006/main" prst="rect">
            <a:avLst/>
          </a:prstGeom>
          <a:solidFill xmlns:a="http://schemas.openxmlformats.org/drawingml/2006/main">
            <a:srgbClr val="F1B86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5776928-D6F3-4C4D-9BD8-71DAFFE210A6}"/>
              </a:ext>
            </a:extLst>
          </p:cNvPr>
          <p:cNvSpPr>
            <a:spLocks xmlns:a="http://schemas.openxmlformats.org/drawingml/2006/main" noGrp="1"/>
          </p:cNvSpPr>
          <p:nvPr/>
        </p:nvSpPr>
        <p:spPr>
          <a:xfrm xmlns:a="http://schemas.openxmlformats.org/drawingml/2006/main">
            <a:off x="7667625" y="4914900"/>
            <a:ext cx="3743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ACBBC4"/>
                </a:solidFill>
                <a:latin typeface="Arial"/>
                <a:ea typeface="Arial"/>
                <a:cs typeface="Arial"/>
              </a:defRPr>
            </a:pPr>
            <a:r>
              <a:rPr sz="1425" b="0">
                <a:solidFill>
                  <a:srgbClr val="ACBBC4"/>
                </a:solidFill>
                <a:latin typeface="Arial"/>
                <a:ea typeface="Arial"/>
                <a:cs typeface="Arial"/>
              </a:rPr>
              <a:t>A labelled simulator sends sample events through the same central alert workflow.</a:t>
            </a:r>
          </a:p>
        </p:txBody>
      </p:sp>
      <p:sp>
        <p:nvSpPr>
          <p:cNvPr id="30" name="">
            <a:extLst xmlns:a="http://schemas.openxmlformats.org/drawingml/2006/main">
              <a:ext uri="{FF2B5EF4-FFF2-40B4-BE49-F238E27FC236}">
                <a16:creationId xmlns:a16="http://schemas.microsoft.com/office/drawing/2014/main" id="{9A972435-968B-4F24-8644-BBFBF8189402}"/>
              </a:ext>
            </a:extLst>
          </p:cNvPr>
          <p:cNvSpPr>
            <a:spLocks xmlns:a="http://schemas.openxmlformats.org/drawingml/2006/main" noGrp="1"/>
          </p:cNvSpPr>
          <p:nvPr/>
        </p:nvSpPr>
        <p:spPr>
          <a:xfrm xmlns:a="http://schemas.openxmlformats.org/drawingml/2006/main">
            <a:off x="666750" y="5724525"/>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78909B"/>
                </a:solidFill>
                <a:latin typeface="Arial"/>
                <a:ea typeface="Arial"/>
                <a:cs typeface="Arial"/>
              </a:defRPr>
            </a:pPr>
            <a:r>
              <a:rPr sz="1275" b="0">
                <a:solidFill>
                  <a:srgbClr val="78909B"/>
                </a:solidFill>
                <a:latin typeface="Arial"/>
                <a:ea typeface="Arial"/>
                <a:cs typeface="Arial"/>
              </a:rPr>
              <a:t>On-demand camera search and preview are separate from the two-camera AI workload.</a:t>
            </a:r>
          </a:p>
        </p:txBody>
      </p:sp>
      <p:sp>
        <p:nvSpPr>
          <p:cNvPr id="31" name="">
            <a:extLst xmlns:a="http://schemas.openxmlformats.org/drawingml/2006/main">
              <a:ext uri="{FF2B5EF4-FFF2-40B4-BE49-F238E27FC236}">
                <a16:creationId xmlns:a16="http://schemas.microsoft.com/office/drawing/2014/main" id="{F99AF364-0503-4206-A95A-6C5AC0797693}"/>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D32D07B-5937-428B-9FEA-23857483E184}"/>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33" name="">
            <a:extLst xmlns:a="http://schemas.openxmlformats.org/drawingml/2006/main">
              <a:ext uri="{FF2B5EF4-FFF2-40B4-BE49-F238E27FC236}">
                <a16:creationId xmlns:a16="http://schemas.microsoft.com/office/drawing/2014/main" id="{46474F78-A3A8-4E7D-9ACC-FD8E713AF254}"/>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03</a:t>
            </a:r>
          </a:p>
        </p:txBody>
      </p:sp>
    </p:spTree>
    <p:extLst>
      <p:ext uri="{BB962C8B-B14F-4D97-AF65-F5344CB8AC3E}">
        <p14:creationId xmlns:p14="http://schemas.microsoft.com/office/powerpoint/2010/main" val="101826659"/>
      </p:ext>
    </p:extLst>
  </p:cSld>
</p:sld>
</file>

<file path=ppt/slides/slide4.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9A43F0F-2BB9-457F-B74C-767E210E4E55}"/>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HOW IT WORKS</a:t>
            </a:r>
          </a:p>
        </p:txBody>
      </p:sp>
      <p:sp>
        <p:nvSpPr>
          <p:cNvPr id="2" name="">
            <a:extLst xmlns:a="http://schemas.openxmlformats.org/drawingml/2006/main">
              <a:ext uri="{FF2B5EF4-FFF2-40B4-BE49-F238E27FC236}">
                <a16:creationId xmlns:a16="http://schemas.microsoft.com/office/drawing/2014/main" id="{6C29C5E2-3759-42DC-90E0-F1B388F69EA0}"/>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Video-to-alert workflow</a:t>
            </a:r>
          </a:p>
        </p:txBody>
      </p:sp>
      <p:sp>
        <p:nvSpPr>
          <p:cNvPr id="3" name="">
            <a:extLst xmlns:a="http://schemas.openxmlformats.org/drawingml/2006/main">
              <a:ext uri="{FF2B5EF4-FFF2-40B4-BE49-F238E27FC236}">
                <a16:creationId xmlns:a16="http://schemas.microsoft.com/office/drawing/2014/main" id="{9515DD12-04D6-4621-BF96-78436E4FF730}"/>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Each sighting moves through bounded stages before an operator sees an alert.</a:t>
            </a:r>
          </a:p>
        </p:txBody>
      </p:sp>
      <p:sp>
        <p:nvSpPr>
          <p:cNvPr id="4" name="">
            <a:extLst xmlns:a="http://schemas.openxmlformats.org/drawingml/2006/main">
              <a:ext uri="{FF2B5EF4-FFF2-40B4-BE49-F238E27FC236}">
                <a16:creationId xmlns:a16="http://schemas.microsoft.com/office/drawing/2014/main" id="{5A7D59C8-277C-49ED-9AD7-F76EDB12898F}"/>
              </a:ext>
            </a:extLst>
          </p:cNvPr>
          <p:cNvSpPr>
            <a:spLocks xmlns:a="http://schemas.openxmlformats.org/drawingml/2006/main" noGrp="1"/>
          </p:cNvSpPr>
          <p:nvPr/>
        </p:nvSpPr>
        <p:spPr>
          <a:xfrm xmlns:a="http://schemas.openxmlformats.org/drawingml/2006/main">
            <a:off x="1095375" y="2857500"/>
            <a:ext cx="10334625" cy="2857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ADA7559-9325-4E4B-8BB7-BD7747E50279}"/>
              </a:ext>
            </a:extLst>
          </p:cNvPr>
          <p:cNvSpPr>
            <a:spLocks xmlns:a="http://schemas.openxmlformats.org/drawingml/2006/main" noGrp="1"/>
          </p:cNvSpPr>
          <p:nvPr/>
        </p:nvSpPr>
        <p:spPr>
          <a:xfrm xmlns:a="http://schemas.openxmlformats.org/drawingml/2006/main">
            <a:off x="962025" y="2695575"/>
            <a:ext cx="333375" cy="3333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7C0CDD8-8A0E-4A15-A179-7EAFCB8936AC}"/>
              </a:ext>
            </a:extLst>
          </p:cNvPr>
          <p:cNvSpPr>
            <a:spLocks xmlns:a="http://schemas.openxmlformats.org/drawingml/2006/main" noGrp="1"/>
          </p:cNvSpPr>
          <p:nvPr/>
        </p:nvSpPr>
        <p:spPr>
          <a:xfrm xmlns:a="http://schemas.openxmlformats.org/drawingml/2006/main">
            <a:off x="962025" y="2724150"/>
            <a:ext cx="33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200" b="1">
                <a:solidFill>
                  <a:srgbClr val="0A1420"/>
                </a:solidFill>
                <a:latin typeface="Arial"/>
                <a:ea typeface="Arial"/>
                <a:cs typeface="Arial"/>
              </a:defRPr>
            </a:pPr>
            <a:r>
              <a:rPr sz="1200" b="1">
                <a:solidFill>
                  <a:srgbClr val="0A1420"/>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3F0DB87B-6CBF-4B77-9332-5E051A3DB2E7}"/>
              </a:ext>
            </a:extLst>
          </p:cNvPr>
          <p:cNvSpPr>
            <a:spLocks xmlns:a="http://schemas.openxmlformats.org/drawingml/2006/main" noGrp="1"/>
          </p:cNvSpPr>
          <p:nvPr/>
        </p:nvSpPr>
        <p:spPr>
          <a:xfrm xmlns:a="http://schemas.openxmlformats.org/drawingml/2006/main">
            <a:off x="647700" y="32575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50" b="1">
                <a:solidFill>
                  <a:srgbClr val="F3F5F6"/>
                </a:solidFill>
                <a:latin typeface="Arial"/>
                <a:ea typeface="Arial"/>
                <a:cs typeface="Arial"/>
              </a:defRPr>
            </a:pPr>
            <a:r>
              <a:rPr sz="1650" b="1">
                <a:solidFill>
                  <a:srgbClr val="F3F5F6"/>
                </a:solidFill>
                <a:latin typeface="Arial"/>
                <a:ea typeface="Arial"/>
                <a:cs typeface="Arial"/>
              </a:rPr>
              <a:t>Connect</a:t>
            </a:r>
          </a:p>
        </p:txBody>
      </p:sp>
      <p:sp>
        <p:nvSpPr>
          <p:cNvPr id="8" name="">
            <a:extLst xmlns:a="http://schemas.openxmlformats.org/drawingml/2006/main">
              <a:ext uri="{FF2B5EF4-FFF2-40B4-BE49-F238E27FC236}">
                <a16:creationId xmlns:a16="http://schemas.microsoft.com/office/drawing/2014/main" id="{70D817A6-A271-48AF-A24A-5497CB72A4B6}"/>
              </a:ext>
            </a:extLst>
          </p:cNvPr>
          <p:cNvSpPr>
            <a:spLocks xmlns:a="http://schemas.openxmlformats.org/drawingml/2006/main" noGrp="1"/>
          </p:cNvSpPr>
          <p:nvPr/>
        </p:nvSpPr>
        <p:spPr>
          <a:xfrm xmlns:a="http://schemas.openxmlformats.org/drawingml/2006/main">
            <a:off x="609600" y="3686175"/>
            <a:ext cx="1733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Open an authorised</a:t>
            </a:r>
          </a:p>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RTSP or HLS feed</a:t>
            </a:r>
          </a:p>
        </p:txBody>
      </p:sp>
      <p:sp>
        <p:nvSpPr>
          <p:cNvPr id="9" name="">
            <a:extLst xmlns:a="http://schemas.openxmlformats.org/drawingml/2006/main">
              <a:ext uri="{FF2B5EF4-FFF2-40B4-BE49-F238E27FC236}">
                <a16:creationId xmlns:a16="http://schemas.microsoft.com/office/drawing/2014/main" id="{8DC2F9D2-B484-4FAA-8866-4508BA6FF075}"/>
              </a:ext>
            </a:extLst>
          </p:cNvPr>
          <p:cNvSpPr>
            <a:spLocks xmlns:a="http://schemas.openxmlformats.org/drawingml/2006/main" noGrp="1"/>
          </p:cNvSpPr>
          <p:nvPr/>
        </p:nvSpPr>
        <p:spPr>
          <a:xfrm xmlns:a="http://schemas.openxmlformats.org/drawingml/2006/main">
            <a:off x="2809875" y="2695575"/>
            <a:ext cx="333375" cy="3333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D26A35B-09C4-4831-A900-F0471DCD399C}"/>
              </a:ext>
            </a:extLst>
          </p:cNvPr>
          <p:cNvSpPr>
            <a:spLocks xmlns:a="http://schemas.openxmlformats.org/drawingml/2006/main" noGrp="1"/>
          </p:cNvSpPr>
          <p:nvPr/>
        </p:nvSpPr>
        <p:spPr>
          <a:xfrm xmlns:a="http://schemas.openxmlformats.org/drawingml/2006/main">
            <a:off x="2809875" y="2724150"/>
            <a:ext cx="33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200" b="1">
                <a:solidFill>
                  <a:srgbClr val="0A1420"/>
                </a:solidFill>
                <a:latin typeface="Arial"/>
                <a:ea typeface="Arial"/>
                <a:cs typeface="Arial"/>
              </a:defRPr>
            </a:pPr>
            <a:r>
              <a:rPr sz="1200" b="1">
                <a:solidFill>
                  <a:srgbClr val="0A1420"/>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C1870838-490F-4DA1-92FA-A7894D9717D3}"/>
              </a:ext>
            </a:extLst>
          </p:cNvPr>
          <p:cNvSpPr>
            <a:spLocks xmlns:a="http://schemas.openxmlformats.org/drawingml/2006/main" noGrp="1"/>
          </p:cNvSpPr>
          <p:nvPr/>
        </p:nvSpPr>
        <p:spPr>
          <a:xfrm xmlns:a="http://schemas.openxmlformats.org/drawingml/2006/main">
            <a:off x="2495550" y="32575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50" b="1">
                <a:solidFill>
                  <a:srgbClr val="F3F5F6"/>
                </a:solidFill>
                <a:latin typeface="Arial"/>
                <a:ea typeface="Arial"/>
                <a:cs typeface="Arial"/>
              </a:defRPr>
            </a:pPr>
            <a:r>
              <a:rPr sz="1650" b="1">
                <a:solidFill>
                  <a:srgbClr val="F3F5F6"/>
                </a:solidFill>
                <a:latin typeface="Arial"/>
                <a:ea typeface="Arial"/>
                <a:cs typeface="Arial"/>
              </a:rPr>
              <a:t>Sample</a:t>
            </a:r>
          </a:p>
        </p:txBody>
      </p:sp>
      <p:sp>
        <p:nvSpPr>
          <p:cNvPr id="12" name="">
            <a:extLst xmlns:a="http://schemas.openxmlformats.org/drawingml/2006/main">
              <a:ext uri="{FF2B5EF4-FFF2-40B4-BE49-F238E27FC236}">
                <a16:creationId xmlns:a16="http://schemas.microsoft.com/office/drawing/2014/main" id="{7431AD29-73B3-4772-8EFC-8EACFB472938}"/>
              </a:ext>
            </a:extLst>
          </p:cNvPr>
          <p:cNvSpPr>
            <a:spLocks xmlns:a="http://schemas.openxmlformats.org/drawingml/2006/main" noGrp="1"/>
          </p:cNvSpPr>
          <p:nvPr/>
        </p:nvSpPr>
        <p:spPr>
          <a:xfrm xmlns:a="http://schemas.openxmlformats.org/drawingml/2006/main">
            <a:off x="2457450" y="3686175"/>
            <a:ext cx="1733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Analyse selected</a:t>
            </a:r>
          </a:p>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frames using PTS</a:t>
            </a:r>
          </a:p>
        </p:txBody>
      </p:sp>
      <p:sp>
        <p:nvSpPr>
          <p:cNvPr id="13" name="">
            <a:extLst xmlns:a="http://schemas.openxmlformats.org/drawingml/2006/main">
              <a:ext uri="{FF2B5EF4-FFF2-40B4-BE49-F238E27FC236}">
                <a16:creationId xmlns:a16="http://schemas.microsoft.com/office/drawing/2014/main" id="{B27EAED3-8167-4820-BA95-3910FEFC279C}"/>
              </a:ext>
            </a:extLst>
          </p:cNvPr>
          <p:cNvSpPr>
            <a:spLocks xmlns:a="http://schemas.openxmlformats.org/drawingml/2006/main" noGrp="1"/>
          </p:cNvSpPr>
          <p:nvPr/>
        </p:nvSpPr>
        <p:spPr>
          <a:xfrm xmlns:a="http://schemas.openxmlformats.org/drawingml/2006/main">
            <a:off x="4657725" y="2695575"/>
            <a:ext cx="333375" cy="3333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B0EE81-B2B2-4AC3-B0A8-05D42884D5C7}"/>
              </a:ext>
            </a:extLst>
          </p:cNvPr>
          <p:cNvSpPr>
            <a:spLocks xmlns:a="http://schemas.openxmlformats.org/drawingml/2006/main" noGrp="1"/>
          </p:cNvSpPr>
          <p:nvPr/>
        </p:nvSpPr>
        <p:spPr>
          <a:xfrm xmlns:a="http://schemas.openxmlformats.org/drawingml/2006/main">
            <a:off x="4657725" y="2724150"/>
            <a:ext cx="33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200" b="1">
                <a:solidFill>
                  <a:srgbClr val="0A1420"/>
                </a:solidFill>
                <a:latin typeface="Arial"/>
                <a:ea typeface="Arial"/>
                <a:cs typeface="Arial"/>
              </a:defRPr>
            </a:pPr>
            <a:r>
              <a:rPr sz="1200" b="1">
                <a:solidFill>
                  <a:srgbClr val="0A1420"/>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1647A90F-13B5-4941-AB80-57D5036C421F}"/>
              </a:ext>
            </a:extLst>
          </p:cNvPr>
          <p:cNvSpPr>
            <a:spLocks xmlns:a="http://schemas.openxmlformats.org/drawingml/2006/main" noGrp="1"/>
          </p:cNvSpPr>
          <p:nvPr/>
        </p:nvSpPr>
        <p:spPr>
          <a:xfrm xmlns:a="http://schemas.openxmlformats.org/drawingml/2006/main">
            <a:off x="4343400" y="32575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50" b="1">
                <a:solidFill>
                  <a:srgbClr val="F3F5F6"/>
                </a:solidFill>
                <a:latin typeface="Arial"/>
                <a:ea typeface="Arial"/>
                <a:cs typeface="Arial"/>
              </a:defRPr>
            </a:pPr>
            <a:r>
              <a:rPr sz="1650" b="1">
                <a:solidFill>
                  <a:srgbClr val="F3F5F6"/>
                </a:solidFill>
                <a:latin typeface="Arial"/>
                <a:ea typeface="Arial"/>
                <a:cs typeface="Arial"/>
              </a:rPr>
              <a:t>Track</a:t>
            </a:r>
          </a:p>
        </p:txBody>
      </p:sp>
      <p:sp>
        <p:nvSpPr>
          <p:cNvPr id="16" name="">
            <a:extLst xmlns:a="http://schemas.openxmlformats.org/drawingml/2006/main">
              <a:ext uri="{FF2B5EF4-FFF2-40B4-BE49-F238E27FC236}">
                <a16:creationId xmlns:a16="http://schemas.microsoft.com/office/drawing/2014/main" id="{629DC338-70FB-4010-A01B-341E56D04D13}"/>
              </a:ext>
            </a:extLst>
          </p:cNvPr>
          <p:cNvSpPr>
            <a:spLocks xmlns:a="http://schemas.openxmlformats.org/drawingml/2006/main" noGrp="1"/>
          </p:cNvSpPr>
          <p:nvPr/>
        </p:nvSpPr>
        <p:spPr>
          <a:xfrm xmlns:a="http://schemas.openxmlformats.org/drawingml/2006/main">
            <a:off x="4305300" y="3686175"/>
            <a:ext cx="1733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Detect and follow</a:t>
            </a:r>
          </a:p>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vehicle tracks</a:t>
            </a:r>
          </a:p>
        </p:txBody>
      </p:sp>
      <p:sp>
        <p:nvSpPr>
          <p:cNvPr id="17" name="">
            <a:extLst xmlns:a="http://schemas.openxmlformats.org/drawingml/2006/main">
              <a:ext uri="{FF2B5EF4-FFF2-40B4-BE49-F238E27FC236}">
                <a16:creationId xmlns:a16="http://schemas.microsoft.com/office/drawing/2014/main" id="{D03552AD-2AFA-4AA2-9211-9397A857B91C}"/>
              </a:ext>
            </a:extLst>
          </p:cNvPr>
          <p:cNvSpPr>
            <a:spLocks xmlns:a="http://schemas.openxmlformats.org/drawingml/2006/main" noGrp="1"/>
          </p:cNvSpPr>
          <p:nvPr/>
        </p:nvSpPr>
        <p:spPr>
          <a:xfrm xmlns:a="http://schemas.openxmlformats.org/drawingml/2006/main">
            <a:off x="6505575" y="2695575"/>
            <a:ext cx="333375" cy="3333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68E8605-1A07-4897-97A2-9D2279BA920A}"/>
              </a:ext>
            </a:extLst>
          </p:cNvPr>
          <p:cNvSpPr>
            <a:spLocks xmlns:a="http://schemas.openxmlformats.org/drawingml/2006/main" noGrp="1"/>
          </p:cNvSpPr>
          <p:nvPr/>
        </p:nvSpPr>
        <p:spPr>
          <a:xfrm xmlns:a="http://schemas.openxmlformats.org/drawingml/2006/main">
            <a:off x="6505575" y="2724150"/>
            <a:ext cx="33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200" b="1">
                <a:solidFill>
                  <a:srgbClr val="0A1420"/>
                </a:solidFill>
                <a:latin typeface="Arial"/>
                <a:ea typeface="Arial"/>
                <a:cs typeface="Arial"/>
              </a:defRPr>
            </a:pPr>
            <a:r>
              <a:rPr sz="1200" b="1">
                <a:solidFill>
                  <a:srgbClr val="0A1420"/>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48249806-894E-49E2-809B-E7FED6881502}"/>
              </a:ext>
            </a:extLst>
          </p:cNvPr>
          <p:cNvSpPr>
            <a:spLocks xmlns:a="http://schemas.openxmlformats.org/drawingml/2006/main" noGrp="1"/>
          </p:cNvSpPr>
          <p:nvPr/>
        </p:nvSpPr>
        <p:spPr>
          <a:xfrm xmlns:a="http://schemas.openxmlformats.org/drawingml/2006/main">
            <a:off x="6191250" y="32575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50" b="1">
                <a:solidFill>
                  <a:srgbClr val="F3F5F6"/>
                </a:solidFill>
                <a:latin typeface="Arial"/>
                <a:ea typeface="Arial"/>
                <a:cs typeface="Arial"/>
              </a:defRPr>
            </a:pPr>
            <a:r>
              <a:rPr sz="1650" b="1">
                <a:solidFill>
                  <a:srgbClr val="F3F5F6"/>
                </a:solidFill>
                <a:latin typeface="Arial"/>
                <a:ea typeface="Arial"/>
                <a:cs typeface="Arial"/>
              </a:rPr>
              <a:t>Crop</a:t>
            </a:r>
          </a:p>
        </p:txBody>
      </p:sp>
      <p:sp>
        <p:nvSpPr>
          <p:cNvPr id="20" name="">
            <a:extLst xmlns:a="http://schemas.openxmlformats.org/drawingml/2006/main">
              <a:ext uri="{FF2B5EF4-FFF2-40B4-BE49-F238E27FC236}">
                <a16:creationId xmlns:a16="http://schemas.microsoft.com/office/drawing/2014/main" id="{F65D57D9-22DE-4F56-A945-EBF8ACDD415E}"/>
              </a:ext>
            </a:extLst>
          </p:cNvPr>
          <p:cNvSpPr>
            <a:spLocks xmlns:a="http://schemas.openxmlformats.org/drawingml/2006/main" noGrp="1"/>
          </p:cNvSpPr>
          <p:nvPr/>
        </p:nvSpPr>
        <p:spPr>
          <a:xfrm xmlns:a="http://schemas.openxmlformats.org/drawingml/2006/main">
            <a:off x="6153150" y="3686175"/>
            <a:ext cx="1733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Find a plate region</a:t>
            </a:r>
          </a:p>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at native pixels</a:t>
            </a:r>
          </a:p>
        </p:txBody>
      </p:sp>
      <p:sp>
        <p:nvSpPr>
          <p:cNvPr id="21" name="">
            <a:extLst xmlns:a="http://schemas.openxmlformats.org/drawingml/2006/main">
              <a:ext uri="{FF2B5EF4-FFF2-40B4-BE49-F238E27FC236}">
                <a16:creationId xmlns:a16="http://schemas.microsoft.com/office/drawing/2014/main" id="{9A08BD47-FBD2-4F3A-9840-8B3C8AAD1920}"/>
              </a:ext>
            </a:extLst>
          </p:cNvPr>
          <p:cNvSpPr>
            <a:spLocks xmlns:a="http://schemas.openxmlformats.org/drawingml/2006/main" noGrp="1"/>
          </p:cNvSpPr>
          <p:nvPr/>
        </p:nvSpPr>
        <p:spPr>
          <a:xfrm xmlns:a="http://schemas.openxmlformats.org/drawingml/2006/main">
            <a:off x="8353425" y="2695575"/>
            <a:ext cx="333375" cy="333375"/>
          </a:xfrm>
          <a:prstGeom xmlns:a="http://schemas.openxmlformats.org/drawingml/2006/main" prst="rect">
            <a:avLst/>
          </a:prstGeom>
          <a:solidFill xmlns:a="http://schemas.openxmlformats.org/drawingml/2006/main">
            <a:srgbClr val="F1B86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3EFE851-9268-4CC6-947A-79294D6823F8}"/>
              </a:ext>
            </a:extLst>
          </p:cNvPr>
          <p:cNvSpPr>
            <a:spLocks xmlns:a="http://schemas.openxmlformats.org/drawingml/2006/main" noGrp="1"/>
          </p:cNvSpPr>
          <p:nvPr/>
        </p:nvSpPr>
        <p:spPr>
          <a:xfrm xmlns:a="http://schemas.openxmlformats.org/drawingml/2006/main">
            <a:off x="8353425" y="2724150"/>
            <a:ext cx="33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200" b="1">
                <a:solidFill>
                  <a:srgbClr val="0A1420"/>
                </a:solidFill>
                <a:latin typeface="Arial"/>
                <a:ea typeface="Arial"/>
                <a:cs typeface="Arial"/>
              </a:defRPr>
            </a:pPr>
            <a:r>
              <a:rPr sz="1200" b="1">
                <a:solidFill>
                  <a:srgbClr val="0A1420"/>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1BBCAA57-0662-4571-A688-77CE99E3B6E1}"/>
              </a:ext>
            </a:extLst>
          </p:cNvPr>
          <p:cNvSpPr>
            <a:spLocks xmlns:a="http://schemas.openxmlformats.org/drawingml/2006/main" noGrp="1"/>
          </p:cNvSpPr>
          <p:nvPr/>
        </p:nvSpPr>
        <p:spPr>
          <a:xfrm xmlns:a="http://schemas.openxmlformats.org/drawingml/2006/main">
            <a:off x="8039100" y="32575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50" b="1">
                <a:solidFill>
                  <a:srgbClr val="F3F5F6"/>
                </a:solidFill>
                <a:latin typeface="Arial"/>
                <a:ea typeface="Arial"/>
                <a:cs typeface="Arial"/>
              </a:defRPr>
            </a:pPr>
            <a:r>
              <a:rPr sz="1650" b="1">
                <a:solidFill>
                  <a:srgbClr val="F3F5F6"/>
                </a:solidFill>
                <a:latin typeface="Arial"/>
                <a:ea typeface="Arial"/>
                <a:cs typeface="Arial"/>
              </a:rPr>
              <a:t>Read</a:t>
            </a:r>
          </a:p>
        </p:txBody>
      </p:sp>
      <p:sp>
        <p:nvSpPr>
          <p:cNvPr id="24" name="">
            <a:extLst xmlns:a="http://schemas.openxmlformats.org/drawingml/2006/main">
              <a:ext uri="{FF2B5EF4-FFF2-40B4-BE49-F238E27FC236}">
                <a16:creationId xmlns:a16="http://schemas.microsoft.com/office/drawing/2014/main" id="{CC9B22AF-389E-4F64-932B-7041C20099EF}"/>
              </a:ext>
            </a:extLst>
          </p:cNvPr>
          <p:cNvSpPr>
            <a:spLocks xmlns:a="http://schemas.openxmlformats.org/drawingml/2006/main" noGrp="1"/>
          </p:cNvSpPr>
          <p:nvPr/>
        </p:nvSpPr>
        <p:spPr>
          <a:xfrm xmlns:a="http://schemas.openxmlformats.org/drawingml/2006/main">
            <a:off x="8001000" y="3686175"/>
            <a:ext cx="1733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OCR distinct crops</a:t>
            </a:r>
          </a:p>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and rank hypotheses</a:t>
            </a:r>
          </a:p>
        </p:txBody>
      </p:sp>
      <p:sp>
        <p:nvSpPr>
          <p:cNvPr id="25" name="">
            <a:extLst xmlns:a="http://schemas.openxmlformats.org/drawingml/2006/main">
              <a:ext uri="{FF2B5EF4-FFF2-40B4-BE49-F238E27FC236}">
                <a16:creationId xmlns:a16="http://schemas.microsoft.com/office/drawing/2014/main" id="{CE725875-3325-47FB-8A6B-C40B1AAF393E}"/>
              </a:ext>
            </a:extLst>
          </p:cNvPr>
          <p:cNvSpPr>
            <a:spLocks xmlns:a="http://schemas.openxmlformats.org/drawingml/2006/main" noGrp="1"/>
          </p:cNvSpPr>
          <p:nvPr/>
        </p:nvSpPr>
        <p:spPr>
          <a:xfrm xmlns:a="http://schemas.openxmlformats.org/drawingml/2006/main">
            <a:off x="10201275" y="2695575"/>
            <a:ext cx="333375" cy="3333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8434EAE-BB5A-4975-B865-AC29F6F49841}"/>
              </a:ext>
            </a:extLst>
          </p:cNvPr>
          <p:cNvSpPr>
            <a:spLocks xmlns:a="http://schemas.openxmlformats.org/drawingml/2006/main" noGrp="1"/>
          </p:cNvSpPr>
          <p:nvPr/>
        </p:nvSpPr>
        <p:spPr>
          <a:xfrm xmlns:a="http://schemas.openxmlformats.org/drawingml/2006/main">
            <a:off x="10201275" y="2724150"/>
            <a:ext cx="33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200" b="1">
                <a:solidFill>
                  <a:srgbClr val="0A1420"/>
                </a:solidFill>
                <a:latin typeface="Arial"/>
                <a:ea typeface="Arial"/>
                <a:cs typeface="Arial"/>
              </a:defRPr>
            </a:pPr>
            <a:r>
              <a:rPr sz="1200" b="1">
                <a:solidFill>
                  <a:srgbClr val="0A1420"/>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8CE47364-DCB2-4D8B-9939-C8F7B67E4D2A}"/>
              </a:ext>
            </a:extLst>
          </p:cNvPr>
          <p:cNvSpPr>
            <a:spLocks xmlns:a="http://schemas.openxmlformats.org/drawingml/2006/main" noGrp="1"/>
          </p:cNvSpPr>
          <p:nvPr/>
        </p:nvSpPr>
        <p:spPr>
          <a:xfrm xmlns:a="http://schemas.openxmlformats.org/drawingml/2006/main">
            <a:off x="9886950" y="32575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50" b="1">
                <a:solidFill>
                  <a:srgbClr val="F3F5F6"/>
                </a:solidFill>
                <a:latin typeface="Arial"/>
                <a:ea typeface="Arial"/>
                <a:cs typeface="Arial"/>
              </a:defRPr>
            </a:pPr>
            <a:r>
              <a:rPr sz="1650" b="1">
                <a:solidFill>
                  <a:srgbClr val="F3F5F6"/>
                </a:solidFill>
                <a:latin typeface="Arial"/>
                <a:ea typeface="Arial"/>
                <a:cs typeface="Arial"/>
              </a:rPr>
              <a:t>Review</a:t>
            </a:r>
          </a:p>
        </p:txBody>
      </p:sp>
      <p:sp>
        <p:nvSpPr>
          <p:cNvPr id="28" name="">
            <a:extLst xmlns:a="http://schemas.openxmlformats.org/drawingml/2006/main">
              <a:ext uri="{FF2B5EF4-FFF2-40B4-BE49-F238E27FC236}">
                <a16:creationId xmlns:a16="http://schemas.microsoft.com/office/drawing/2014/main" id="{8DE1ABEE-A80C-4F0A-A721-179DF1E44C5A}"/>
              </a:ext>
            </a:extLst>
          </p:cNvPr>
          <p:cNvSpPr>
            <a:spLocks xmlns:a="http://schemas.openxmlformats.org/drawingml/2006/main" noGrp="1"/>
          </p:cNvSpPr>
          <p:nvPr/>
        </p:nvSpPr>
        <p:spPr>
          <a:xfrm xmlns:a="http://schemas.openxmlformats.org/drawingml/2006/main">
            <a:off x="9848850" y="3686175"/>
            <a:ext cx="1733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Match the watchlist</a:t>
            </a:r>
          </a:p>
          <a:p xmlns:a="http://schemas.openxmlformats.org/drawingml/2006/main">
            <a:pPr algn="ctr">
              <a:lnSpc>
                <a:spcPct val="110000"/>
              </a:lnSpc>
              <a:buNone/>
              <a:defRPr sz="1275" b="0">
                <a:solidFill>
                  <a:srgbClr val="ACBBC4"/>
                </a:solidFill>
                <a:latin typeface="Arial"/>
                <a:ea typeface="Arial"/>
                <a:cs typeface="Arial"/>
              </a:defRPr>
            </a:pPr>
            <a:r>
              <a:rPr sz="1275" b="0">
                <a:solidFill>
                  <a:srgbClr val="ACBBC4"/>
                </a:solidFill>
                <a:latin typeface="Arial"/>
                <a:ea typeface="Arial"/>
                <a:cs typeface="Arial"/>
              </a:rPr>
              <a:t>and send an alert</a:t>
            </a:r>
          </a:p>
        </p:txBody>
      </p:sp>
      <p:sp>
        <p:nvSpPr>
          <p:cNvPr id="29" name="">
            <a:extLst xmlns:a="http://schemas.openxmlformats.org/drawingml/2006/main">
              <a:ext uri="{FF2B5EF4-FFF2-40B4-BE49-F238E27FC236}">
                <a16:creationId xmlns:a16="http://schemas.microsoft.com/office/drawing/2014/main" id="{A23C59DB-21EA-4271-9403-5B5FDDB151B2}"/>
              </a:ext>
            </a:extLst>
          </p:cNvPr>
          <p:cNvSpPr>
            <a:spLocks xmlns:a="http://schemas.openxmlformats.org/drawingml/2006/main" noGrp="1"/>
          </p:cNvSpPr>
          <p:nvPr/>
        </p:nvSpPr>
        <p:spPr>
          <a:xfrm xmlns:a="http://schemas.openxmlformats.org/drawingml/2006/main">
            <a:off x="647700" y="5010150"/>
            <a:ext cx="1087755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8FDEF4B-52B9-49A4-91B4-83393DFE7E47}"/>
              </a:ext>
            </a:extLst>
          </p:cNvPr>
          <p:cNvSpPr>
            <a:spLocks xmlns:a="http://schemas.openxmlformats.org/drawingml/2006/main" noGrp="1"/>
          </p:cNvSpPr>
          <p:nvPr/>
        </p:nvSpPr>
        <p:spPr>
          <a:xfrm xmlns:a="http://schemas.openxmlformats.org/drawingml/2006/main">
            <a:off x="666750" y="52578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1B86D"/>
                </a:solidFill>
                <a:latin typeface="Arial"/>
                <a:ea typeface="Arial"/>
                <a:cs typeface="Arial"/>
              </a:defRPr>
            </a:pPr>
            <a:r>
              <a:rPr sz="1575" b="1">
                <a:solidFill>
                  <a:srgbClr val="F1B86D"/>
                </a:solidFill>
                <a:latin typeface="Arial"/>
                <a:ea typeface="Arial"/>
                <a:cs typeface="Arial"/>
              </a:rPr>
              <a:t>The engineering console can show the best available OCR guess even when it is uncertain. The operator workflow keeps uncertain readings out of automatic watchlist alerts.</a:t>
            </a:r>
          </a:p>
        </p:txBody>
      </p:sp>
      <p:sp>
        <p:nvSpPr>
          <p:cNvPr id="31" name="">
            <a:extLst xmlns:a="http://schemas.openxmlformats.org/drawingml/2006/main">
              <a:ext uri="{FF2B5EF4-FFF2-40B4-BE49-F238E27FC236}">
                <a16:creationId xmlns:a16="http://schemas.microsoft.com/office/drawing/2014/main" id="{76337C2D-47F2-4021-9EFE-7CF4DB2DF10E}"/>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5313245-C7B9-4253-9F01-B70757038B9B}"/>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33" name="">
            <a:extLst xmlns:a="http://schemas.openxmlformats.org/drawingml/2006/main">
              <a:ext uri="{FF2B5EF4-FFF2-40B4-BE49-F238E27FC236}">
                <a16:creationId xmlns:a16="http://schemas.microsoft.com/office/drawing/2014/main" id="{87A23BD3-3321-49D8-91D9-04824EFC5C8C}"/>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04</a:t>
            </a:r>
          </a:p>
        </p:txBody>
      </p:sp>
    </p:spTree>
    <p:extLst>
      <p:ext uri="{BB962C8B-B14F-4D97-AF65-F5344CB8AC3E}">
        <p14:creationId xmlns:p14="http://schemas.microsoft.com/office/powerpoint/2010/main" val="1654494973"/>
      </p:ext>
    </p:extLst>
  </p:cSld>
</p:sld>
</file>

<file path=ppt/slides/slide5.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C8A3A4D-67F1-4E78-A572-28639C5F3CFD}"/>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BUILT FEATURES</a:t>
            </a:r>
          </a:p>
        </p:txBody>
      </p:sp>
      <p:sp>
        <p:nvSpPr>
          <p:cNvPr id="2" name="">
            <a:extLst xmlns:a="http://schemas.openxmlformats.org/drawingml/2006/main">
              <a:ext uri="{FF2B5EF4-FFF2-40B4-BE49-F238E27FC236}">
                <a16:creationId xmlns:a16="http://schemas.microsoft.com/office/drawing/2014/main" id="{49F29BF8-428B-4DD5-A648-A9387F1F3F91}"/>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Operator dashboard</a:t>
            </a:r>
          </a:p>
        </p:txBody>
      </p:sp>
      <p:sp>
        <p:nvSpPr>
          <p:cNvPr id="3" name="">
            <a:extLst xmlns:a="http://schemas.openxmlformats.org/drawingml/2006/main">
              <a:ext uri="{FF2B5EF4-FFF2-40B4-BE49-F238E27FC236}">
                <a16:creationId xmlns:a16="http://schemas.microsoft.com/office/drawing/2014/main" id="{6EA6E774-8E4B-4648-8927-95D83FFA3AF9}"/>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A command-centre view for camera status, alert triage and investigation.</a:t>
            </a:r>
          </a:p>
        </p:txBody>
      </p:sp>
      <p:sp>
        <p:nvSpPr>
          <p:cNvPr id="4" name="">
            <a:extLst xmlns:a="http://schemas.openxmlformats.org/drawingml/2006/main">
              <a:ext uri="{FF2B5EF4-FFF2-40B4-BE49-F238E27FC236}">
                <a16:creationId xmlns:a16="http://schemas.microsoft.com/office/drawing/2014/main" id="{19861F2E-A833-4C4E-934D-A8556C5EA5EB}"/>
              </a:ext>
            </a:extLst>
          </p:cNvPr>
          <p:cNvSpPr>
            <a:spLocks xmlns:a="http://schemas.openxmlformats.org/drawingml/2006/main" noGrp="1"/>
          </p:cNvSpPr>
          <p:nvPr/>
        </p:nvSpPr>
        <p:spPr>
          <a:xfrm xmlns:a="http://schemas.openxmlformats.org/drawingml/2006/main">
            <a:off x="666750" y="2133600"/>
            <a:ext cx="4905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4BD2C0"/>
                </a:solidFill>
                <a:latin typeface="Arial"/>
                <a:ea typeface="Arial"/>
                <a:cs typeface="Arial"/>
              </a:defRPr>
            </a:pPr>
            <a:r>
              <a:rPr sz="1200" b="1">
                <a:solidFill>
                  <a:srgbClr val="4BD2C0"/>
                </a:solidFill>
                <a:latin typeface="Arial"/>
                <a:ea typeface="Arial"/>
                <a:cs typeface="Arial"/>
              </a:rPr>
              <a:t>MONITOR AND FIND</a:t>
            </a:r>
          </a:p>
        </p:txBody>
      </p:sp>
      <p:sp>
        <p:nvSpPr>
          <p:cNvPr id="5" name="">
            <a:extLst xmlns:a="http://schemas.openxmlformats.org/drawingml/2006/main">
              <a:ext uri="{FF2B5EF4-FFF2-40B4-BE49-F238E27FC236}">
                <a16:creationId xmlns:a16="http://schemas.microsoft.com/office/drawing/2014/main" id="{9B2BCE3B-B6F5-4F5A-989C-C000B5461B35}"/>
              </a:ext>
            </a:extLst>
          </p:cNvPr>
          <p:cNvSpPr>
            <a:spLocks xmlns:a="http://schemas.openxmlformats.org/drawingml/2006/main" noGrp="1"/>
          </p:cNvSpPr>
          <p:nvPr/>
        </p:nvSpPr>
        <p:spPr>
          <a:xfrm xmlns:a="http://schemas.openxmlformats.org/drawingml/2006/main">
            <a:off x="666750" y="263842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EECDE2B-9DAF-43C1-86FE-D2ECBE136228}"/>
              </a:ext>
            </a:extLst>
          </p:cNvPr>
          <p:cNvSpPr>
            <a:spLocks xmlns:a="http://schemas.openxmlformats.org/drawingml/2006/main" noGrp="1"/>
          </p:cNvSpPr>
          <p:nvPr/>
        </p:nvSpPr>
        <p:spPr>
          <a:xfrm xmlns:a="http://schemas.openxmlformats.org/drawingml/2006/main">
            <a:off x="857250" y="2562225"/>
            <a:ext cx="471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Camera health and status</a:t>
            </a:r>
          </a:p>
        </p:txBody>
      </p:sp>
      <p:sp>
        <p:nvSpPr>
          <p:cNvPr id="7" name="">
            <a:extLst xmlns:a="http://schemas.openxmlformats.org/drawingml/2006/main">
              <a:ext uri="{FF2B5EF4-FFF2-40B4-BE49-F238E27FC236}">
                <a16:creationId xmlns:a16="http://schemas.microsoft.com/office/drawing/2014/main" id="{83D94309-3ED1-46E9-989D-864F45BD8C80}"/>
              </a:ext>
            </a:extLst>
          </p:cNvPr>
          <p:cNvSpPr>
            <a:spLocks xmlns:a="http://schemas.openxmlformats.org/drawingml/2006/main" noGrp="1"/>
          </p:cNvSpPr>
          <p:nvPr/>
        </p:nvSpPr>
        <p:spPr>
          <a:xfrm xmlns:a="http://schemas.openxmlformats.org/drawingml/2006/main">
            <a:off x="857250" y="2847975"/>
            <a:ext cx="4676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View configured cameras and whether each feed is online or degraded.</a:t>
            </a:r>
          </a:p>
        </p:txBody>
      </p:sp>
      <p:sp>
        <p:nvSpPr>
          <p:cNvPr id="8" name="">
            <a:extLst xmlns:a="http://schemas.openxmlformats.org/drawingml/2006/main">
              <a:ext uri="{FF2B5EF4-FFF2-40B4-BE49-F238E27FC236}">
                <a16:creationId xmlns:a16="http://schemas.microsoft.com/office/drawing/2014/main" id="{2FCD348B-837F-4E79-B11A-CEA7B291D7AF}"/>
              </a:ext>
            </a:extLst>
          </p:cNvPr>
          <p:cNvSpPr>
            <a:spLocks xmlns:a="http://schemas.openxmlformats.org/drawingml/2006/main" noGrp="1"/>
          </p:cNvSpPr>
          <p:nvPr/>
        </p:nvSpPr>
        <p:spPr>
          <a:xfrm xmlns:a="http://schemas.openxmlformats.org/drawingml/2006/main">
            <a:off x="666750" y="360045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E6A22F9-E594-4294-AE61-A6F43A3504E1}"/>
              </a:ext>
            </a:extLst>
          </p:cNvPr>
          <p:cNvSpPr>
            <a:spLocks xmlns:a="http://schemas.openxmlformats.org/drawingml/2006/main" noGrp="1"/>
          </p:cNvSpPr>
          <p:nvPr/>
        </p:nvSpPr>
        <p:spPr>
          <a:xfrm xmlns:a="http://schemas.openxmlformats.org/drawingml/2006/main">
            <a:off x="857250" y="3524250"/>
            <a:ext cx="471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Search authorised cameras</a:t>
            </a:r>
          </a:p>
        </p:txBody>
      </p:sp>
      <p:sp>
        <p:nvSpPr>
          <p:cNvPr id="10" name="">
            <a:extLst xmlns:a="http://schemas.openxmlformats.org/drawingml/2006/main">
              <a:ext uri="{FF2B5EF4-FFF2-40B4-BE49-F238E27FC236}">
                <a16:creationId xmlns:a16="http://schemas.microsoft.com/office/drawing/2014/main" id="{99B9FCF2-DE66-49AE-A134-17934BEA960C}"/>
              </a:ext>
            </a:extLst>
          </p:cNvPr>
          <p:cNvSpPr>
            <a:spLocks xmlns:a="http://schemas.openxmlformats.org/drawingml/2006/main" noGrp="1"/>
          </p:cNvSpPr>
          <p:nvPr/>
        </p:nvSpPr>
        <p:spPr>
          <a:xfrm xmlns:a="http://schemas.openxmlformats.org/drawingml/2006/main">
            <a:off x="857250" y="3810000"/>
            <a:ext cx="4676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Search by camera ID, camera name or location. Search does not add that camera to AI processing.</a:t>
            </a:r>
          </a:p>
        </p:txBody>
      </p:sp>
      <p:sp>
        <p:nvSpPr>
          <p:cNvPr id="11" name="">
            <a:extLst xmlns:a="http://schemas.openxmlformats.org/drawingml/2006/main">
              <a:ext uri="{FF2B5EF4-FFF2-40B4-BE49-F238E27FC236}">
                <a16:creationId xmlns:a16="http://schemas.microsoft.com/office/drawing/2014/main" id="{C8F95001-B22D-4DBD-AA42-BC2287D6B280}"/>
              </a:ext>
            </a:extLst>
          </p:cNvPr>
          <p:cNvSpPr>
            <a:spLocks xmlns:a="http://schemas.openxmlformats.org/drawingml/2006/main" noGrp="1"/>
          </p:cNvSpPr>
          <p:nvPr/>
        </p:nvSpPr>
        <p:spPr>
          <a:xfrm xmlns:a="http://schemas.openxmlformats.org/drawingml/2006/main">
            <a:off x="666750" y="474345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EB4673C-3BF5-41E4-AE54-F942DB93E859}"/>
              </a:ext>
            </a:extLst>
          </p:cNvPr>
          <p:cNvSpPr>
            <a:spLocks xmlns:a="http://schemas.openxmlformats.org/drawingml/2006/main" noGrp="1"/>
          </p:cNvSpPr>
          <p:nvPr/>
        </p:nvSpPr>
        <p:spPr>
          <a:xfrm xmlns:a="http://schemas.openxmlformats.org/drawingml/2006/main">
            <a:off x="857250" y="4667250"/>
            <a:ext cx="471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Open a temporary preview</a:t>
            </a:r>
          </a:p>
        </p:txBody>
      </p:sp>
      <p:sp>
        <p:nvSpPr>
          <p:cNvPr id="13" name="">
            <a:extLst xmlns:a="http://schemas.openxmlformats.org/drawingml/2006/main">
              <a:ext uri="{FF2B5EF4-FFF2-40B4-BE49-F238E27FC236}">
                <a16:creationId xmlns:a16="http://schemas.microsoft.com/office/drawing/2014/main" id="{73B90BCB-DD4C-4509-8F5F-BD119E2BDF7D}"/>
              </a:ext>
            </a:extLst>
          </p:cNvPr>
          <p:cNvSpPr>
            <a:spLocks xmlns:a="http://schemas.openxmlformats.org/drawingml/2006/main" noGrp="1"/>
          </p:cNvSpPr>
          <p:nvPr/>
        </p:nvSpPr>
        <p:spPr>
          <a:xfrm xmlns:a="http://schemas.openxmlformats.org/drawingml/2006/main">
            <a:off x="857250" y="4953000"/>
            <a:ext cx="4676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On-demand preview is time-limited and capped at two concurrent sessions.</a:t>
            </a:r>
          </a:p>
        </p:txBody>
      </p:sp>
      <p:sp>
        <p:nvSpPr>
          <p:cNvPr id="14" name="">
            <a:extLst xmlns:a="http://schemas.openxmlformats.org/drawingml/2006/main">
              <a:ext uri="{FF2B5EF4-FFF2-40B4-BE49-F238E27FC236}">
                <a16:creationId xmlns:a16="http://schemas.microsoft.com/office/drawing/2014/main" id="{5021C332-94D4-4B4A-A725-41D6306FD870}"/>
              </a:ext>
            </a:extLst>
          </p:cNvPr>
          <p:cNvSpPr>
            <a:spLocks xmlns:a="http://schemas.openxmlformats.org/drawingml/2006/main" noGrp="1"/>
          </p:cNvSpPr>
          <p:nvPr/>
        </p:nvSpPr>
        <p:spPr>
          <a:xfrm xmlns:a="http://schemas.openxmlformats.org/drawingml/2006/main">
            <a:off x="6076950" y="2143125"/>
            <a:ext cx="9525" cy="3524250"/>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4F6DB20-5B14-4600-A4A3-6016E3DE079D}"/>
              </a:ext>
            </a:extLst>
          </p:cNvPr>
          <p:cNvSpPr>
            <a:spLocks xmlns:a="http://schemas.openxmlformats.org/drawingml/2006/main" noGrp="1"/>
          </p:cNvSpPr>
          <p:nvPr/>
        </p:nvSpPr>
        <p:spPr>
          <a:xfrm xmlns:a="http://schemas.openxmlformats.org/drawingml/2006/main">
            <a:off x="6534150" y="2133600"/>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4BD2C0"/>
                </a:solidFill>
                <a:latin typeface="Arial"/>
                <a:ea typeface="Arial"/>
                <a:cs typeface="Arial"/>
              </a:defRPr>
            </a:pPr>
            <a:r>
              <a:rPr sz="1200" b="1">
                <a:solidFill>
                  <a:srgbClr val="4BD2C0"/>
                </a:solidFill>
                <a:latin typeface="Arial"/>
                <a:ea typeface="Arial"/>
                <a:cs typeface="Arial"/>
              </a:rPr>
              <a:t>REVIEW AND INVESTIGATE</a:t>
            </a:r>
          </a:p>
        </p:txBody>
      </p:sp>
      <p:sp>
        <p:nvSpPr>
          <p:cNvPr id="16" name="">
            <a:extLst xmlns:a="http://schemas.openxmlformats.org/drawingml/2006/main">
              <a:ext uri="{FF2B5EF4-FFF2-40B4-BE49-F238E27FC236}">
                <a16:creationId xmlns:a16="http://schemas.microsoft.com/office/drawing/2014/main" id="{6D92CAD8-06BE-4282-AEAC-95DF30F71A2D}"/>
              </a:ext>
            </a:extLst>
          </p:cNvPr>
          <p:cNvSpPr>
            <a:spLocks xmlns:a="http://schemas.openxmlformats.org/drawingml/2006/main" noGrp="1"/>
          </p:cNvSpPr>
          <p:nvPr/>
        </p:nvSpPr>
        <p:spPr>
          <a:xfrm xmlns:a="http://schemas.openxmlformats.org/drawingml/2006/main">
            <a:off x="6534150" y="263842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76EB1F0-FCCF-4496-9453-360A0E4CA578}"/>
              </a:ext>
            </a:extLst>
          </p:cNvPr>
          <p:cNvSpPr>
            <a:spLocks xmlns:a="http://schemas.openxmlformats.org/drawingml/2006/main" noGrp="1"/>
          </p:cNvSpPr>
          <p:nvPr/>
        </p:nvSpPr>
        <p:spPr>
          <a:xfrm xmlns:a="http://schemas.openxmlformats.org/drawingml/2006/main">
            <a:off x="6724650" y="256222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Alert queue and live updates</a:t>
            </a:r>
          </a:p>
        </p:txBody>
      </p:sp>
      <p:sp>
        <p:nvSpPr>
          <p:cNvPr id="18" name="">
            <a:extLst xmlns:a="http://schemas.openxmlformats.org/drawingml/2006/main">
              <a:ext uri="{FF2B5EF4-FFF2-40B4-BE49-F238E27FC236}">
                <a16:creationId xmlns:a16="http://schemas.microsoft.com/office/drawing/2014/main" id="{48CB2025-1428-4EC6-8881-369466712082}"/>
              </a:ext>
            </a:extLst>
          </p:cNvPr>
          <p:cNvSpPr>
            <a:spLocks xmlns:a="http://schemas.openxmlformats.org/drawingml/2006/main" noGrp="1"/>
          </p:cNvSpPr>
          <p:nvPr/>
        </p:nvSpPr>
        <p:spPr>
          <a:xfrm xmlns:a="http://schemas.openxmlformats.org/drawingml/2006/main">
            <a:off x="6724650" y="284797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New watchlist matches appear through the central WebSocket channel.</a:t>
            </a:r>
          </a:p>
        </p:txBody>
      </p:sp>
      <p:sp>
        <p:nvSpPr>
          <p:cNvPr id="19" name="">
            <a:extLst xmlns:a="http://schemas.openxmlformats.org/drawingml/2006/main">
              <a:ext uri="{FF2B5EF4-FFF2-40B4-BE49-F238E27FC236}">
                <a16:creationId xmlns:a16="http://schemas.microsoft.com/office/drawing/2014/main" id="{027BCB80-23E9-47E8-9706-1C817E135B95}"/>
              </a:ext>
            </a:extLst>
          </p:cNvPr>
          <p:cNvSpPr>
            <a:spLocks xmlns:a="http://schemas.openxmlformats.org/drawingml/2006/main" noGrp="1"/>
          </p:cNvSpPr>
          <p:nvPr/>
        </p:nvSpPr>
        <p:spPr>
          <a:xfrm xmlns:a="http://schemas.openxmlformats.org/drawingml/2006/main">
            <a:off x="6534150" y="361950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3EF0E9A-EEAD-4E30-9ED4-E52E29584C8C}"/>
              </a:ext>
            </a:extLst>
          </p:cNvPr>
          <p:cNvSpPr>
            <a:spLocks xmlns:a="http://schemas.openxmlformats.org/drawingml/2006/main" noGrp="1"/>
          </p:cNvSpPr>
          <p:nvPr/>
        </p:nvSpPr>
        <p:spPr>
          <a:xfrm xmlns:a="http://schemas.openxmlformats.org/drawingml/2006/main">
            <a:off x="6724650" y="354330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Audited operator actions</a:t>
            </a:r>
          </a:p>
        </p:txBody>
      </p:sp>
      <p:sp>
        <p:nvSpPr>
          <p:cNvPr id="21" name="">
            <a:extLst xmlns:a="http://schemas.openxmlformats.org/drawingml/2006/main">
              <a:ext uri="{FF2B5EF4-FFF2-40B4-BE49-F238E27FC236}">
                <a16:creationId xmlns:a16="http://schemas.microsoft.com/office/drawing/2014/main" id="{91BBA5D0-3C48-46A7-AE34-A22E5B63DDE3}"/>
              </a:ext>
            </a:extLst>
          </p:cNvPr>
          <p:cNvSpPr>
            <a:spLocks xmlns:a="http://schemas.openxmlformats.org/drawingml/2006/main" noGrp="1"/>
          </p:cNvSpPr>
          <p:nvPr/>
        </p:nvSpPr>
        <p:spPr>
          <a:xfrm xmlns:a="http://schemas.openxmlformats.org/drawingml/2006/main">
            <a:off x="6724650" y="3829050"/>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Acknowledge, resolve or mark an alert as a false positive.</a:t>
            </a:r>
          </a:p>
        </p:txBody>
      </p:sp>
      <p:sp>
        <p:nvSpPr>
          <p:cNvPr id="22" name="">
            <a:extLst xmlns:a="http://schemas.openxmlformats.org/drawingml/2006/main">
              <a:ext uri="{FF2B5EF4-FFF2-40B4-BE49-F238E27FC236}">
                <a16:creationId xmlns:a16="http://schemas.microsoft.com/office/drawing/2014/main" id="{0070C41B-E270-43F3-B402-4D144FA6D412}"/>
              </a:ext>
            </a:extLst>
          </p:cNvPr>
          <p:cNvSpPr>
            <a:spLocks xmlns:a="http://schemas.openxmlformats.org/drawingml/2006/main" noGrp="1"/>
          </p:cNvSpPr>
          <p:nvPr/>
        </p:nvSpPr>
        <p:spPr>
          <a:xfrm xmlns:a="http://schemas.openxmlformats.org/drawingml/2006/main">
            <a:off x="6534150" y="459105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A1E11B5-A80E-4B34-8119-41A413F4C844}"/>
              </a:ext>
            </a:extLst>
          </p:cNvPr>
          <p:cNvSpPr>
            <a:spLocks xmlns:a="http://schemas.openxmlformats.org/drawingml/2006/main" noGrp="1"/>
          </p:cNvSpPr>
          <p:nvPr/>
        </p:nvSpPr>
        <p:spPr>
          <a:xfrm xmlns:a="http://schemas.openxmlformats.org/drawingml/2006/main">
            <a:off x="6724650" y="45148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Routes and reports</a:t>
            </a:r>
          </a:p>
        </p:txBody>
      </p:sp>
      <p:sp>
        <p:nvSpPr>
          <p:cNvPr id="24" name="">
            <a:extLst xmlns:a="http://schemas.openxmlformats.org/drawingml/2006/main">
              <a:ext uri="{FF2B5EF4-FFF2-40B4-BE49-F238E27FC236}">
                <a16:creationId xmlns:a16="http://schemas.microsoft.com/office/drawing/2014/main" id="{2148AE74-8158-4E6A-965E-0CB26913AFB9}"/>
              </a:ext>
            </a:extLst>
          </p:cNvPr>
          <p:cNvSpPr>
            <a:spLocks xmlns:a="http://schemas.openxmlformats.org/drawingml/2006/main" noGrp="1"/>
          </p:cNvSpPr>
          <p:nvPr/>
        </p:nvSpPr>
        <p:spPr>
          <a:xfrm xmlns:a="http://schemas.openxmlformats.org/drawingml/2006/main">
            <a:off x="6724650" y="4800600"/>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Search ordered sightings and open incident or hourly reports.</a:t>
            </a:r>
          </a:p>
        </p:txBody>
      </p:sp>
      <p:sp>
        <p:nvSpPr>
          <p:cNvPr id="25" name="">
            <a:extLst xmlns:a="http://schemas.openxmlformats.org/drawingml/2006/main">
              <a:ext uri="{FF2B5EF4-FFF2-40B4-BE49-F238E27FC236}">
                <a16:creationId xmlns:a16="http://schemas.microsoft.com/office/drawing/2014/main" id="{729471AF-A21A-49E6-9747-292CCEE418BB}"/>
              </a:ext>
            </a:extLst>
          </p:cNvPr>
          <p:cNvSpPr>
            <a:spLocks xmlns:a="http://schemas.openxmlformats.org/drawingml/2006/main" noGrp="1"/>
          </p:cNvSpPr>
          <p:nvPr/>
        </p:nvSpPr>
        <p:spPr>
          <a:xfrm xmlns:a="http://schemas.openxmlformats.org/drawingml/2006/main">
            <a:off x="666750" y="58102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78909B"/>
                </a:solidFill>
                <a:latin typeface="Arial"/>
                <a:ea typeface="Arial"/>
                <a:cs typeface="Arial"/>
              </a:defRPr>
            </a:pPr>
            <a:r>
              <a:rPr sz="1200" b="0">
                <a:solidFill>
                  <a:srgbClr val="78909B"/>
                </a:solidFill>
                <a:latin typeface="Arial"/>
                <a:ea typeface="Arial"/>
                <a:cs typeface="Arial"/>
              </a:rPr>
              <a:t>Map locations are labelled approximate where demo coordinates are used.</a:t>
            </a:r>
          </a:p>
        </p:txBody>
      </p:sp>
      <p:sp>
        <p:nvSpPr>
          <p:cNvPr id="26" name="">
            <a:extLst xmlns:a="http://schemas.openxmlformats.org/drawingml/2006/main">
              <a:ext uri="{FF2B5EF4-FFF2-40B4-BE49-F238E27FC236}">
                <a16:creationId xmlns:a16="http://schemas.microsoft.com/office/drawing/2014/main" id="{0253BC86-E10C-4A73-9C03-03228AA24FA5}"/>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383C0C7-E56F-47C0-9DCE-5101782C198C}"/>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28" name="">
            <a:extLst xmlns:a="http://schemas.openxmlformats.org/drawingml/2006/main">
              <a:ext uri="{FF2B5EF4-FFF2-40B4-BE49-F238E27FC236}">
                <a16:creationId xmlns:a16="http://schemas.microsoft.com/office/drawing/2014/main" id="{F7517C3B-9350-4B5C-B8F6-A91A312777F8}"/>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05</a:t>
            </a:r>
          </a:p>
        </p:txBody>
      </p:sp>
    </p:spTree>
    <p:extLst>
      <p:ext uri="{BB962C8B-B14F-4D97-AF65-F5344CB8AC3E}">
        <p14:creationId xmlns:p14="http://schemas.microsoft.com/office/powerpoint/2010/main" val="310132973"/>
      </p:ext>
    </p:extLst>
  </p:cSld>
</p:sld>
</file>

<file path=ppt/slides/slide6.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69132A9-8AE3-4894-A8A5-E04A46F977DA}"/>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BUILT FEATURES</a:t>
            </a:r>
          </a:p>
        </p:txBody>
      </p:sp>
      <p:sp>
        <p:nvSpPr>
          <p:cNvPr id="2" name="">
            <a:extLst xmlns:a="http://schemas.openxmlformats.org/drawingml/2006/main">
              <a:ext uri="{FF2B5EF4-FFF2-40B4-BE49-F238E27FC236}">
                <a16:creationId xmlns:a16="http://schemas.microsoft.com/office/drawing/2014/main" id="{04C1748E-6958-4F29-BFC6-5CE151BF5CCC}"/>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Engineering console</a:t>
            </a:r>
          </a:p>
        </p:txBody>
      </p:sp>
      <p:sp>
        <p:nvSpPr>
          <p:cNvPr id="3" name="">
            <a:extLst xmlns:a="http://schemas.openxmlformats.org/drawingml/2006/main">
              <a:ext uri="{FF2B5EF4-FFF2-40B4-BE49-F238E27FC236}">
                <a16:creationId xmlns:a16="http://schemas.microsoft.com/office/drawing/2014/main" id="{D7FF8BBF-46BB-40BF-9EEC-957213A62D07}"/>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A separate local view lets the team inspect how each model stage behaves.</a:t>
            </a:r>
          </a:p>
        </p:txBody>
      </p:sp>
      <p:sp>
        <p:nvSpPr>
          <p:cNvPr id="4" name="">
            <a:extLst xmlns:a="http://schemas.openxmlformats.org/drawingml/2006/main">
              <a:ext uri="{FF2B5EF4-FFF2-40B4-BE49-F238E27FC236}">
                <a16:creationId xmlns:a16="http://schemas.microsoft.com/office/drawing/2014/main" id="{0955784C-06AD-4D0F-B669-F5EC3C57390A}"/>
              </a:ext>
            </a:extLst>
          </p:cNvPr>
          <p:cNvSpPr>
            <a:spLocks xmlns:a="http://schemas.openxmlformats.org/drawingml/2006/main" noGrp="1"/>
          </p:cNvSpPr>
          <p:nvPr/>
        </p:nvSpPr>
        <p:spPr>
          <a:xfrm xmlns:a="http://schemas.openxmlformats.org/drawingml/2006/main">
            <a:off x="666750" y="209550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4BD2C0"/>
                </a:solidFill>
                <a:latin typeface="Arial"/>
                <a:ea typeface="Arial"/>
                <a:cs typeface="Arial"/>
              </a:defRPr>
            </a:pPr>
            <a:r>
              <a:rPr sz="1200" b="1">
                <a:solidFill>
                  <a:srgbClr val="4BD2C0"/>
                </a:solidFill>
                <a:latin typeface="Arial"/>
                <a:ea typeface="Arial"/>
                <a:cs typeface="Arial"/>
              </a:rPr>
              <a:t>FRAME-BY-FRAME EVIDENCE</a:t>
            </a:r>
          </a:p>
        </p:txBody>
      </p:sp>
      <p:sp>
        <p:nvSpPr>
          <p:cNvPr id="5" name="">
            <a:extLst xmlns:a="http://schemas.openxmlformats.org/drawingml/2006/main">
              <a:ext uri="{FF2B5EF4-FFF2-40B4-BE49-F238E27FC236}">
                <a16:creationId xmlns:a16="http://schemas.microsoft.com/office/drawing/2014/main" id="{EB8D37D6-3939-419D-85F1-00B8B645BA7E}"/>
              </a:ext>
            </a:extLst>
          </p:cNvPr>
          <p:cNvSpPr>
            <a:spLocks xmlns:a="http://schemas.openxmlformats.org/drawingml/2006/main" noGrp="1"/>
          </p:cNvSpPr>
          <p:nvPr/>
        </p:nvSpPr>
        <p:spPr>
          <a:xfrm xmlns:a="http://schemas.openxmlformats.org/drawingml/2006/main">
            <a:off x="762000" y="2647950"/>
            <a:ext cx="1276350" cy="838200"/>
          </a:xfrm>
          <a:prstGeom xmlns:a="http://schemas.openxmlformats.org/drawingml/2006/main" prst="rect">
            <a:avLst/>
          </a:prstGeom>
          <a:solidFill xmlns:a="http://schemas.openxmlformats.org/drawingml/2006/main">
            <a:srgbClr val="172937"/>
          </a:solidFill>
          <a:ln xmlns:a="http://schemas.openxmlformats.org/drawingml/2006/main" w="9525">
            <a:solidFill>
              <a:srgbClr val="304553"/>
            </a:solidFill>
            <a:prstDash val="solid"/>
          </a:ln>
        </p:spPr>
      </p:sp>
      <p:sp>
        <p:nvSpPr>
          <p:cNvPr id="6" name="">
            <a:extLst xmlns:a="http://schemas.openxmlformats.org/drawingml/2006/main">
              <a:ext uri="{FF2B5EF4-FFF2-40B4-BE49-F238E27FC236}">
                <a16:creationId xmlns:a16="http://schemas.microsoft.com/office/drawing/2014/main" id="{B4FBE15A-801B-4F2C-9913-AB81F5484E28}"/>
              </a:ext>
            </a:extLst>
          </p:cNvPr>
          <p:cNvSpPr>
            <a:spLocks xmlns:a="http://schemas.openxmlformats.org/drawingml/2006/main" noGrp="1"/>
          </p:cNvSpPr>
          <p:nvPr/>
        </p:nvSpPr>
        <p:spPr>
          <a:xfrm xmlns:a="http://schemas.openxmlformats.org/drawingml/2006/main">
            <a:off x="847725" y="2771775"/>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050" b="1">
                <a:solidFill>
                  <a:srgbClr val="78909B"/>
                </a:solidFill>
                <a:latin typeface="Arial"/>
                <a:ea typeface="Arial"/>
                <a:cs typeface="Arial"/>
              </a:defRPr>
            </a:pPr>
            <a:r>
              <a:rPr sz="1050" b="1">
                <a:solidFill>
                  <a:srgbClr val="78909B"/>
                </a:solidFill>
                <a:latin typeface="Arial"/>
                <a:ea typeface="Arial"/>
                <a:cs typeface="Arial"/>
              </a:rPr>
              <a:t>FRAME 1</a:t>
            </a:r>
          </a:p>
        </p:txBody>
      </p:sp>
      <p:sp>
        <p:nvSpPr>
          <p:cNvPr id="7" name="">
            <a:extLst xmlns:a="http://schemas.openxmlformats.org/drawingml/2006/main">
              <a:ext uri="{FF2B5EF4-FFF2-40B4-BE49-F238E27FC236}">
                <a16:creationId xmlns:a16="http://schemas.microsoft.com/office/drawing/2014/main" id="{D416B174-042E-4541-9884-4949DA59F060}"/>
              </a:ext>
            </a:extLst>
          </p:cNvPr>
          <p:cNvSpPr>
            <a:spLocks xmlns:a="http://schemas.openxmlformats.org/drawingml/2006/main" noGrp="1"/>
          </p:cNvSpPr>
          <p:nvPr/>
        </p:nvSpPr>
        <p:spPr>
          <a:xfrm xmlns:a="http://schemas.openxmlformats.org/drawingml/2006/main">
            <a:off x="838200" y="3086100"/>
            <a:ext cx="11239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00" b="1">
                <a:solidFill>
                  <a:srgbClr val="F1B86D"/>
                </a:solidFill>
                <a:latin typeface="Arial"/>
                <a:ea typeface="Arial"/>
                <a:cs typeface="Arial"/>
              </a:defRPr>
            </a:pPr>
            <a:r>
              <a:rPr sz="1200" b="1">
                <a:solidFill>
                  <a:srgbClr val="F1B86D"/>
                </a:solidFill>
                <a:latin typeface="Arial"/>
                <a:ea typeface="Arial"/>
                <a:cs typeface="Arial"/>
              </a:rPr>
              <a:t>GJ0?AB12?4</a:t>
            </a:r>
          </a:p>
        </p:txBody>
      </p:sp>
      <p:sp>
        <p:nvSpPr>
          <p:cNvPr id="8" name="">
            <a:extLst xmlns:a="http://schemas.openxmlformats.org/drawingml/2006/main">
              <a:ext uri="{FF2B5EF4-FFF2-40B4-BE49-F238E27FC236}">
                <a16:creationId xmlns:a16="http://schemas.microsoft.com/office/drawing/2014/main" id="{914B214F-8EA3-4CFD-A1D5-B3C0F16EE729}"/>
              </a:ext>
            </a:extLst>
          </p:cNvPr>
          <p:cNvSpPr>
            <a:spLocks xmlns:a="http://schemas.openxmlformats.org/drawingml/2006/main" noGrp="1"/>
          </p:cNvSpPr>
          <p:nvPr/>
        </p:nvSpPr>
        <p:spPr>
          <a:xfrm xmlns:a="http://schemas.openxmlformats.org/drawingml/2006/main">
            <a:off x="2114550" y="2971800"/>
            <a:ext cx="266700" cy="190500"/>
          </a:xfrm>
          <a:prstGeom xmlns:a="http://schemas.openxmlformats.org/drawingml/2006/main" prst="rightArrow">
            <a:avLst/>
          </a:prstGeom>
          <a:solidFill xmlns:a="http://schemas.openxmlformats.org/drawingml/2006/main">
            <a:srgbClr val="4BD2C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3D33634-4722-4776-A566-00F96EE9F57A}"/>
              </a:ext>
            </a:extLst>
          </p:cNvPr>
          <p:cNvSpPr>
            <a:spLocks xmlns:a="http://schemas.openxmlformats.org/drawingml/2006/main" noGrp="1"/>
          </p:cNvSpPr>
          <p:nvPr/>
        </p:nvSpPr>
        <p:spPr>
          <a:xfrm xmlns:a="http://schemas.openxmlformats.org/drawingml/2006/main">
            <a:off x="2333625" y="2647950"/>
            <a:ext cx="1276350" cy="838200"/>
          </a:xfrm>
          <a:prstGeom xmlns:a="http://schemas.openxmlformats.org/drawingml/2006/main" prst="rect">
            <a:avLst/>
          </a:prstGeom>
          <a:solidFill xmlns:a="http://schemas.openxmlformats.org/drawingml/2006/main">
            <a:srgbClr val="172937"/>
          </a:solidFill>
          <a:ln xmlns:a="http://schemas.openxmlformats.org/drawingml/2006/main" w="9525">
            <a:solidFill>
              <a:srgbClr val="304553"/>
            </a:solidFill>
            <a:prstDash val="solid"/>
          </a:ln>
        </p:spPr>
      </p:sp>
      <p:sp>
        <p:nvSpPr>
          <p:cNvPr id="10" name="">
            <a:extLst xmlns:a="http://schemas.openxmlformats.org/drawingml/2006/main">
              <a:ext uri="{FF2B5EF4-FFF2-40B4-BE49-F238E27FC236}">
                <a16:creationId xmlns:a16="http://schemas.microsoft.com/office/drawing/2014/main" id="{8ECE2207-915E-4215-896C-606FE5E6375A}"/>
              </a:ext>
            </a:extLst>
          </p:cNvPr>
          <p:cNvSpPr>
            <a:spLocks xmlns:a="http://schemas.openxmlformats.org/drawingml/2006/main" noGrp="1"/>
          </p:cNvSpPr>
          <p:nvPr/>
        </p:nvSpPr>
        <p:spPr>
          <a:xfrm xmlns:a="http://schemas.openxmlformats.org/drawingml/2006/main">
            <a:off x="2419350" y="2771775"/>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050" b="1">
                <a:solidFill>
                  <a:srgbClr val="78909B"/>
                </a:solidFill>
                <a:latin typeface="Arial"/>
                <a:ea typeface="Arial"/>
                <a:cs typeface="Arial"/>
              </a:defRPr>
            </a:pPr>
            <a:r>
              <a:rPr sz="1050" b="1">
                <a:solidFill>
                  <a:srgbClr val="78909B"/>
                </a:solidFill>
                <a:latin typeface="Arial"/>
                <a:ea typeface="Arial"/>
                <a:cs typeface="Arial"/>
              </a:rPr>
              <a:t>FRAME 2</a:t>
            </a:r>
          </a:p>
        </p:txBody>
      </p:sp>
      <p:sp>
        <p:nvSpPr>
          <p:cNvPr id="11" name="">
            <a:extLst xmlns:a="http://schemas.openxmlformats.org/drawingml/2006/main">
              <a:ext uri="{FF2B5EF4-FFF2-40B4-BE49-F238E27FC236}">
                <a16:creationId xmlns:a16="http://schemas.microsoft.com/office/drawing/2014/main" id="{74CC5E0E-B61F-48C4-A75D-99C5D5FD8256}"/>
              </a:ext>
            </a:extLst>
          </p:cNvPr>
          <p:cNvSpPr>
            <a:spLocks xmlns:a="http://schemas.openxmlformats.org/drawingml/2006/main" noGrp="1"/>
          </p:cNvSpPr>
          <p:nvPr/>
        </p:nvSpPr>
        <p:spPr>
          <a:xfrm xmlns:a="http://schemas.openxmlformats.org/drawingml/2006/main">
            <a:off x="2409825" y="3086100"/>
            <a:ext cx="11239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00" b="1">
                <a:solidFill>
                  <a:srgbClr val="F1B86D"/>
                </a:solidFill>
                <a:latin typeface="Arial"/>
                <a:ea typeface="Arial"/>
                <a:cs typeface="Arial"/>
              </a:defRPr>
            </a:pPr>
            <a:r>
              <a:rPr sz="1200" b="1">
                <a:solidFill>
                  <a:srgbClr val="F1B86D"/>
                </a:solidFill>
                <a:latin typeface="Arial"/>
                <a:ea typeface="Arial"/>
                <a:cs typeface="Arial"/>
              </a:rPr>
              <a:t>GJ01A?1234</a:t>
            </a:r>
          </a:p>
        </p:txBody>
      </p:sp>
      <p:sp>
        <p:nvSpPr>
          <p:cNvPr id="12" name="">
            <a:extLst xmlns:a="http://schemas.openxmlformats.org/drawingml/2006/main">
              <a:ext uri="{FF2B5EF4-FFF2-40B4-BE49-F238E27FC236}">
                <a16:creationId xmlns:a16="http://schemas.microsoft.com/office/drawing/2014/main" id="{EDF2E0E1-2511-42CF-9763-E8BC07ED7F41}"/>
              </a:ext>
            </a:extLst>
          </p:cNvPr>
          <p:cNvSpPr>
            <a:spLocks xmlns:a="http://schemas.openxmlformats.org/drawingml/2006/main" noGrp="1"/>
          </p:cNvSpPr>
          <p:nvPr/>
        </p:nvSpPr>
        <p:spPr>
          <a:xfrm xmlns:a="http://schemas.openxmlformats.org/drawingml/2006/main">
            <a:off x="3686175" y="2971800"/>
            <a:ext cx="266700" cy="190500"/>
          </a:xfrm>
          <a:prstGeom xmlns:a="http://schemas.openxmlformats.org/drawingml/2006/main" prst="rightArrow">
            <a:avLst/>
          </a:prstGeom>
          <a:solidFill xmlns:a="http://schemas.openxmlformats.org/drawingml/2006/main">
            <a:srgbClr val="4BD2C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811CCF8-4284-4866-B263-71C462F0163C}"/>
              </a:ext>
            </a:extLst>
          </p:cNvPr>
          <p:cNvSpPr>
            <a:spLocks xmlns:a="http://schemas.openxmlformats.org/drawingml/2006/main" noGrp="1"/>
          </p:cNvSpPr>
          <p:nvPr/>
        </p:nvSpPr>
        <p:spPr>
          <a:xfrm xmlns:a="http://schemas.openxmlformats.org/drawingml/2006/main">
            <a:off x="3905250" y="2647950"/>
            <a:ext cx="1276350" cy="838200"/>
          </a:xfrm>
          <a:prstGeom xmlns:a="http://schemas.openxmlformats.org/drawingml/2006/main" prst="rect">
            <a:avLst/>
          </a:prstGeom>
          <a:solidFill xmlns:a="http://schemas.openxmlformats.org/drawingml/2006/main">
            <a:srgbClr val="172937"/>
          </a:solidFill>
          <a:ln xmlns:a="http://schemas.openxmlformats.org/drawingml/2006/main" w="9525">
            <a:solidFill>
              <a:srgbClr val="304553"/>
            </a:solidFill>
            <a:prstDash val="solid"/>
          </a:ln>
        </p:spPr>
      </p:sp>
      <p:sp>
        <p:nvSpPr>
          <p:cNvPr id="14" name="">
            <a:extLst xmlns:a="http://schemas.openxmlformats.org/drawingml/2006/main">
              <a:ext uri="{FF2B5EF4-FFF2-40B4-BE49-F238E27FC236}">
                <a16:creationId xmlns:a16="http://schemas.microsoft.com/office/drawing/2014/main" id="{C8C75715-8AAD-4ABE-9C1A-0F829140788F}"/>
              </a:ext>
            </a:extLst>
          </p:cNvPr>
          <p:cNvSpPr>
            <a:spLocks xmlns:a="http://schemas.openxmlformats.org/drawingml/2006/main" noGrp="1"/>
          </p:cNvSpPr>
          <p:nvPr/>
        </p:nvSpPr>
        <p:spPr>
          <a:xfrm xmlns:a="http://schemas.openxmlformats.org/drawingml/2006/main">
            <a:off x="3990975" y="2771775"/>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050" b="1">
                <a:solidFill>
                  <a:srgbClr val="78909B"/>
                </a:solidFill>
                <a:latin typeface="Arial"/>
                <a:ea typeface="Arial"/>
                <a:cs typeface="Arial"/>
              </a:defRPr>
            </a:pPr>
            <a:r>
              <a:rPr sz="1050" b="1">
                <a:solidFill>
                  <a:srgbClr val="78909B"/>
                </a:solidFill>
                <a:latin typeface="Arial"/>
                <a:ea typeface="Arial"/>
                <a:cs typeface="Arial"/>
              </a:rPr>
              <a:t>FRAME 3</a:t>
            </a:r>
          </a:p>
        </p:txBody>
      </p:sp>
      <p:sp>
        <p:nvSpPr>
          <p:cNvPr id="15" name="">
            <a:extLst xmlns:a="http://schemas.openxmlformats.org/drawingml/2006/main">
              <a:ext uri="{FF2B5EF4-FFF2-40B4-BE49-F238E27FC236}">
                <a16:creationId xmlns:a16="http://schemas.microsoft.com/office/drawing/2014/main" id="{52A85422-2678-44C9-9E05-74A7E8ECC416}"/>
              </a:ext>
            </a:extLst>
          </p:cNvPr>
          <p:cNvSpPr>
            <a:spLocks xmlns:a="http://schemas.openxmlformats.org/drawingml/2006/main" noGrp="1"/>
          </p:cNvSpPr>
          <p:nvPr/>
        </p:nvSpPr>
        <p:spPr>
          <a:xfrm xmlns:a="http://schemas.openxmlformats.org/drawingml/2006/main">
            <a:off x="3981450" y="3086100"/>
            <a:ext cx="11239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00" b="1">
                <a:solidFill>
                  <a:srgbClr val="F1B86D"/>
                </a:solidFill>
                <a:latin typeface="Arial"/>
                <a:ea typeface="Arial"/>
                <a:cs typeface="Arial"/>
              </a:defRPr>
            </a:pPr>
            <a:r>
              <a:rPr sz="1200" b="1">
                <a:solidFill>
                  <a:srgbClr val="F1B86D"/>
                </a:solidFill>
                <a:latin typeface="Arial"/>
                <a:ea typeface="Arial"/>
                <a:cs typeface="Arial"/>
              </a:rPr>
              <a:t>GJ01AB12?4</a:t>
            </a:r>
          </a:p>
        </p:txBody>
      </p:sp>
      <p:sp>
        <p:nvSpPr>
          <p:cNvPr id="16" name="">
            <a:extLst xmlns:a="http://schemas.openxmlformats.org/drawingml/2006/main">
              <a:ext uri="{FF2B5EF4-FFF2-40B4-BE49-F238E27FC236}">
                <a16:creationId xmlns:a16="http://schemas.microsoft.com/office/drawing/2014/main" id="{4C95F715-FFC8-4737-BD43-44195519A397}"/>
              </a:ext>
            </a:extLst>
          </p:cNvPr>
          <p:cNvSpPr>
            <a:spLocks xmlns:a="http://schemas.openxmlformats.org/drawingml/2006/main" noGrp="1"/>
          </p:cNvSpPr>
          <p:nvPr/>
        </p:nvSpPr>
        <p:spPr>
          <a:xfrm xmlns:a="http://schemas.openxmlformats.org/drawingml/2006/main">
            <a:off x="762000" y="374332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78909B"/>
                </a:solidFill>
                <a:latin typeface="Arial"/>
                <a:ea typeface="Arial"/>
                <a:cs typeface="Arial"/>
              </a:defRPr>
            </a:pPr>
            <a:r>
              <a:rPr sz="1200" b="0">
                <a:solidFill>
                  <a:srgbClr val="78909B"/>
                </a:solidFill>
                <a:latin typeface="Arial"/>
                <a:ea typeface="Arial"/>
                <a:cs typeface="Arial"/>
              </a:rPr>
              <a:t>Separate observations build a ranked reading. The schematic text above is illustrative, not a live result.</a:t>
            </a:r>
          </a:p>
        </p:txBody>
      </p:sp>
      <p:sp>
        <p:nvSpPr>
          <p:cNvPr id="17" name="">
            <a:extLst xmlns:a="http://schemas.openxmlformats.org/drawingml/2006/main">
              <a:ext uri="{FF2B5EF4-FFF2-40B4-BE49-F238E27FC236}">
                <a16:creationId xmlns:a16="http://schemas.microsoft.com/office/drawing/2014/main" id="{FFE28D65-BE15-4777-836E-E2FBCCA79B7A}"/>
              </a:ext>
            </a:extLst>
          </p:cNvPr>
          <p:cNvSpPr>
            <a:spLocks xmlns:a="http://schemas.openxmlformats.org/drawingml/2006/main" noGrp="1"/>
          </p:cNvSpPr>
          <p:nvPr/>
        </p:nvSpPr>
        <p:spPr>
          <a:xfrm xmlns:a="http://schemas.openxmlformats.org/drawingml/2006/main">
            <a:off x="5886450" y="2095500"/>
            <a:ext cx="9525" cy="3581400"/>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4517D6F-B360-4ED9-8ECF-0404B5F86A24}"/>
              </a:ext>
            </a:extLst>
          </p:cNvPr>
          <p:cNvSpPr>
            <a:spLocks xmlns:a="http://schemas.openxmlformats.org/drawingml/2006/main" noGrp="1"/>
          </p:cNvSpPr>
          <p:nvPr/>
        </p:nvSpPr>
        <p:spPr>
          <a:xfrm xmlns:a="http://schemas.openxmlformats.org/drawingml/2006/main">
            <a:off x="6324600" y="217170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D95297B-3CBD-47FB-AE6A-C988E3813641}"/>
              </a:ext>
            </a:extLst>
          </p:cNvPr>
          <p:cNvSpPr>
            <a:spLocks xmlns:a="http://schemas.openxmlformats.org/drawingml/2006/main" noGrp="1"/>
          </p:cNvSpPr>
          <p:nvPr/>
        </p:nvSpPr>
        <p:spPr>
          <a:xfrm xmlns:a="http://schemas.openxmlformats.org/drawingml/2006/main">
            <a:off x="6515100" y="209550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Lossless native plate crops</a:t>
            </a:r>
          </a:p>
        </p:txBody>
      </p:sp>
      <p:sp>
        <p:nvSpPr>
          <p:cNvPr id="20" name="">
            <a:extLst xmlns:a="http://schemas.openxmlformats.org/drawingml/2006/main">
              <a:ext uri="{FF2B5EF4-FFF2-40B4-BE49-F238E27FC236}">
                <a16:creationId xmlns:a16="http://schemas.microsoft.com/office/drawing/2014/main" id="{2F528009-207A-4F81-AF27-0B12EB8091DE}"/>
              </a:ext>
            </a:extLst>
          </p:cNvPr>
          <p:cNvSpPr>
            <a:spLocks xmlns:a="http://schemas.openxmlformats.org/drawingml/2006/main" noGrp="1"/>
          </p:cNvSpPr>
          <p:nvPr/>
        </p:nvSpPr>
        <p:spPr>
          <a:xfrm xmlns:a="http://schemas.openxmlformats.org/drawingml/2006/main">
            <a:off x="6515100" y="2381250"/>
            <a:ext cx="4867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The console shows original crop dimensions; enlargement adds no pixels.</a:t>
            </a:r>
          </a:p>
        </p:txBody>
      </p:sp>
      <p:sp>
        <p:nvSpPr>
          <p:cNvPr id="21" name="">
            <a:extLst xmlns:a="http://schemas.openxmlformats.org/drawingml/2006/main">
              <a:ext uri="{FF2B5EF4-FFF2-40B4-BE49-F238E27FC236}">
                <a16:creationId xmlns:a16="http://schemas.microsoft.com/office/drawing/2014/main" id="{3A2EDD2C-FE16-4DF3-B9D0-9C3F37A0F4A1}"/>
              </a:ext>
            </a:extLst>
          </p:cNvPr>
          <p:cNvSpPr>
            <a:spLocks xmlns:a="http://schemas.openxmlformats.org/drawingml/2006/main" noGrp="1"/>
          </p:cNvSpPr>
          <p:nvPr/>
        </p:nvSpPr>
        <p:spPr>
          <a:xfrm xmlns:a="http://schemas.openxmlformats.org/drawingml/2006/main">
            <a:off x="6324600" y="304800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470D5D6-2903-42B8-924C-03346204F4FE}"/>
              </a:ext>
            </a:extLst>
          </p:cNvPr>
          <p:cNvSpPr>
            <a:spLocks xmlns:a="http://schemas.openxmlformats.org/drawingml/2006/main" noGrp="1"/>
          </p:cNvSpPr>
          <p:nvPr/>
        </p:nvSpPr>
        <p:spPr>
          <a:xfrm xmlns:a="http://schemas.openxmlformats.org/drawingml/2006/main">
            <a:off x="6515100" y="297180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Per-frame OCR evidence</a:t>
            </a:r>
          </a:p>
        </p:txBody>
      </p:sp>
      <p:sp>
        <p:nvSpPr>
          <p:cNvPr id="23" name="">
            <a:extLst xmlns:a="http://schemas.openxmlformats.org/drawingml/2006/main">
              <a:ext uri="{FF2B5EF4-FFF2-40B4-BE49-F238E27FC236}">
                <a16:creationId xmlns:a16="http://schemas.microsoft.com/office/drawing/2014/main" id="{4735BD95-D681-4769-9580-6C0A10BE3C0E}"/>
              </a:ext>
            </a:extLst>
          </p:cNvPr>
          <p:cNvSpPr>
            <a:spLocks xmlns:a="http://schemas.openxmlformats.org/drawingml/2006/main" noGrp="1"/>
          </p:cNvSpPr>
          <p:nvPr/>
        </p:nvSpPr>
        <p:spPr>
          <a:xfrm xmlns:a="http://schemas.openxmlformats.org/drawingml/2006/main">
            <a:off x="6515100" y="3257550"/>
            <a:ext cx="4867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Text output, character scores and alternatives remain visible for diagnosis.</a:t>
            </a:r>
          </a:p>
        </p:txBody>
      </p:sp>
      <p:sp>
        <p:nvSpPr>
          <p:cNvPr id="24" name="">
            <a:extLst xmlns:a="http://schemas.openxmlformats.org/drawingml/2006/main">
              <a:ext uri="{FF2B5EF4-FFF2-40B4-BE49-F238E27FC236}">
                <a16:creationId xmlns:a16="http://schemas.microsoft.com/office/drawing/2014/main" id="{088E0D1B-4411-40BB-BBE3-483E93810D82}"/>
              </a:ext>
            </a:extLst>
          </p:cNvPr>
          <p:cNvSpPr>
            <a:spLocks xmlns:a="http://schemas.openxmlformats.org/drawingml/2006/main" noGrp="1"/>
          </p:cNvSpPr>
          <p:nvPr/>
        </p:nvSpPr>
        <p:spPr>
          <a:xfrm xmlns:a="http://schemas.openxmlformats.org/drawingml/2006/main">
            <a:off x="6324600" y="401955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91453A2-9217-4423-990C-F8236C101311}"/>
              </a:ext>
            </a:extLst>
          </p:cNvPr>
          <p:cNvSpPr>
            <a:spLocks xmlns:a="http://schemas.openxmlformats.org/drawingml/2006/main" noGrp="1"/>
          </p:cNvSpPr>
          <p:nvPr/>
        </p:nvSpPr>
        <p:spPr>
          <a:xfrm xmlns:a="http://schemas.openxmlformats.org/drawingml/2006/main">
            <a:off x="6515100" y="394335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Ranked guesses and gate reasons</a:t>
            </a:r>
          </a:p>
        </p:txBody>
      </p:sp>
      <p:sp>
        <p:nvSpPr>
          <p:cNvPr id="26" name="">
            <a:extLst xmlns:a="http://schemas.openxmlformats.org/drawingml/2006/main">
              <a:ext uri="{FF2B5EF4-FFF2-40B4-BE49-F238E27FC236}">
                <a16:creationId xmlns:a16="http://schemas.microsoft.com/office/drawing/2014/main" id="{D5DE7BD0-A83D-4507-AF9D-895BBF90D9CA}"/>
              </a:ext>
            </a:extLst>
          </p:cNvPr>
          <p:cNvSpPr>
            <a:spLocks xmlns:a="http://schemas.openxmlformats.org/drawingml/2006/main" noGrp="1"/>
          </p:cNvSpPr>
          <p:nvPr/>
        </p:nvSpPr>
        <p:spPr>
          <a:xfrm xmlns:a="http://schemas.openxmlformats.org/drawingml/2006/main">
            <a:off x="6515100" y="4229100"/>
            <a:ext cx="4867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The best candidate can appear below the acceptance threshold, labelled unverified.</a:t>
            </a:r>
          </a:p>
        </p:txBody>
      </p:sp>
      <p:sp>
        <p:nvSpPr>
          <p:cNvPr id="27" name="">
            <a:extLst xmlns:a="http://schemas.openxmlformats.org/drawingml/2006/main">
              <a:ext uri="{FF2B5EF4-FFF2-40B4-BE49-F238E27FC236}">
                <a16:creationId xmlns:a16="http://schemas.microsoft.com/office/drawing/2014/main" id="{F63F3D7B-D8AE-4FE3-BF3B-F4F36E632110}"/>
              </a:ext>
            </a:extLst>
          </p:cNvPr>
          <p:cNvSpPr>
            <a:spLocks xmlns:a="http://schemas.openxmlformats.org/drawingml/2006/main" noGrp="1"/>
          </p:cNvSpPr>
          <p:nvPr/>
        </p:nvSpPr>
        <p:spPr>
          <a:xfrm xmlns:a="http://schemas.openxmlformats.org/drawingml/2006/main">
            <a:off x="6324600" y="505777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CBFE2FC-24DC-47F2-A4CD-651D790722FA}"/>
              </a:ext>
            </a:extLst>
          </p:cNvPr>
          <p:cNvSpPr>
            <a:spLocks xmlns:a="http://schemas.openxmlformats.org/drawingml/2006/main" noGrp="1"/>
          </p:cNvSpPr>
          <p:nvPr/>
        </p:nvSpPr>
        <p:spPr>
          <a:xfrm xmlns:a="http://schemas.openxmlformats.org/drawingml/2006/main">
            <a:off x="6515100" y="4981575"/>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Reconstruction view</a:t>
            </a:r>
          </a:p>
        </p:txBody>
      </p:sp>
      <p:sp>
        <p:nvSpPr>
          <p:cNvPr id="29" name="">
            <a:extLst xmlns:a="http://schemas.openxmlformats.org/drawingml/2006/main">
              <a:ext uri="{FF2B5EF4-FFF2-40B4-BE49-F238E27FC236}">
                <a16:creationId xmlns:a16="http://schemas.microsoft.com/office/drawing/2014/main" id="{E1FA1404-43F8-4178-8E81-84DFEDB24DD3}"/>
              </a:ext>
            </a:extLst>
          </p:cNvPr>
          <p:cNvSpPr>
            <a:spLocks xmlns:a="http://schemas.openxmlformats.org/drawingml/2006/main" noGrp="1"/>
          </p:cNvSpPr>
          <p:nvPr/>
        </p:nvSpPr>
        <p:spPr>
          <a:xfrm xmlns:a="http://schemas.openxmlformats.org/drawingml/2006/main">
            <a:off x="6515100" y="5267325"/>
            <a:ext cx="4867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Aligned derived crops are compared with original evidence and add no extra votes.</a:t>
            </a:r>
          </a:p>
        </p:txBody>
      </p:sp>
      <p:sp>
        <p:nvSpPr>
          <p:cNvPr id="30" name="">
            <a:extLst xmlns:a="http://schemas.openxmlformats.org/drawingml/2006/main">
              <a:ext uri="{FF2B5EF4-FFF2-40B4-BE49-F238E27FC236}">
                <a16:creationId xmlns:a16="http://schemas.microsoft.com/office/drawing/2014/main" id="{3DBDBCEF-0B5D-46EF-A825-0AFD5221FFFB}"/>
              </a:ext>
            </a:extLst>
          </p:cNvPr>
          <p:cNvSpPr>
            <a:spLocks xmlns:a="http://schemas.openxmlformats.org/drawingml/2006/main" noGrp="1"/>
          </p:cNvSpPr>
          <p:nvPr/>
        </p:nvSpPr>
        <p:spPr>
          <a:xfrm xmlns:a="http://schemas.openxmlformats.org/drawingml/2006/main">
            <a:off x="666750" y="5581650"/>
            <a:ext cx="10725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1">
                <a:solidFill>
                  <a:srgbClr val="F1B86D"/>
                </a:solidFill>
                <a:latin typeface="Arial"/>
                <a:ea typeface="Arial"/>
                <a:cs typeface="Arial"/>
              </a:defRPr>
            </a:pPr>
            <a:r>
              <a:rPr sz="1425" b="1">
                <a:solidFill>
                  <a:srgbClr val="F1B86D"/>
                </a:solidFill>
                <a:latin typeface="Arial"/>
                <a:ea typeface="Arial"/>
                <a:cs typeface="Arial"/>
              </a:rPr>
              <a:t>Scores are uncalibrated model outputs. A model-accepted reading is still not an independently verified registration.</a:t>
            </a:r>
          </a:p>
        </p:txBody>
      </p:sp>
      <p:sp>
        <p:nvSpPr>
          <p:cNvPr id="31" name="">
            <a:extLst xmlns:a="http://schemas.openxmlformats.org/drawingml/2006/main">
              <a:ext uri="{FF2B5EF4-FFF2-40B4-BE49-F238E27FC236}">
                <a16:creationId xmlns:a16="http://schemas.microsoft.com/office/drawing/2014/main" id="{A32D545A-A6B5-4D60-A1EE-2C3F25AAAC36}"/>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836D1C7-7CFF-490D-B9D7-6AF4C01B3058}"/>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33" name="">
            <a:extLst xmlns:a="http://schemas.openxmlformats.org/drawingml/2006/main">
              <a:ext uri="{FF2B5EF4-FFF2-40B4-BE49-F238E27FC236}">
                <a16:creationId xmlns:a16="http://schemas.microsoft.com/office/drawing/2014/main" id="{4302935C-CFAF-48EE-A3AB-9D97C9EBFF27}"/>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06</a:t>
            </a:r>
          </a:p>
        </p:txBody>
      </p:sp>
    </p:spTree>
    <p:extLst>
      <p:ext uri="{BB962C8B-B14F-4D97-AF65-F5344CB8AC3E}">
        <p14:creationId xmlns:p14="http://schemas.microsoft.com/office/powerpoint/2010/main" val="1745677873"/>
      </p:ext>
    </p:extLst>
  </p:cSld>
</p:sld>
</file>

<file path=ppt/slides/slide7.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94A2C2-7E4E-4DDD-B4C2-28343A7A4F33}"/>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AI STACK</a:t>
            </a:r>
          </a:p>
        </p:txBody>
      </p:sp>
      <p:sp>
        <p:nvSpPr>
          <p:cNvPr id="2" name="">
            <a:extLst xmlns:a="http://schemas.openxmlformats.org/drawingml/2006/main">
              <a:ext uri="{FF2B5EF4-FFF2-40B4-BE49-F238E27FC236}">
                <a16:creationId xmlns:a16="http://schemas.microsoft.com/office/drawing/2014/main" id="{FE8D162A-0043-44BC-8E38-F66EC1B312F2}"/>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Models and recognition methods</a:t>
            </a:r>
          </a:p>
        </p:txBody>
      </p:sp>
      <p:sp>
        <p:nvSpPr>
          <p:cNvPr id="3" name="">
            <a:extLst xmlns:a="http://schemas.openxmlformats.org/drawingml/2006/main">
              <a:ext uri="{FF2B5EF4-FFF2-40B4-BE49-F238E27FC236}">
                <a16:creationId xmlns:a16="http://schemas.microsoft.com/office/drawing/2014/main" id="{C98BD58C-1DC4-4997-9F48-0BD0C6D558FC}"/>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The prototype keeps the deployable path separate from diagnostic and offline research branches.</a:t>
            </a:r>
          </a:p>
        </p:txBody>
      </p:sp>
      <p:graphicFrame>
        <p:nvGraphicFramePr>
          <p:cNvPr id="12" name=""/>
          <p:cNvGraphicFramePr/>
          <p:nvPr/>
        </p:nvGraphicFramePr>
        <p:xfrm>
          <a:off xmlns:a="http://schemas.openxmlformats.org/drawingml/2006/main" x="638175" y="2133600"/>
          <a:ext xmlns:a="http://schemas.openxmlformats.org/drawingml/2006/main" cx="10915650" cy="2876550"/>
        </p:xfrm>
        <a:graphic xmlns:a="http://schemas.openxmlformats.org/drawingml/2006/main">
          <a:graphicData uri="http://schemas.openxmlformats.org/drawingml/2006/table">
            <a:tbl>
              <a:tblPr firstRow="1" bandRow="0"/>
              <a:tblGrid>
                <a:gridCol w="3638550"/>
                <a:gridCol w="3638550"/>
                <a:gridCol w="3638550"/>
              </a:tblGrid>
              <a:tr h="457200">
                <a:tc>
                  <a:txBody>
                    <a:bodyPr wrap="square" lIns="76200" tIns="57150" rIns="76200" bIns="57150">
                      <a:normAutofit/>
                    </a:bodyPr>
                    <a:lstStyle/>
                    <a:p>
                      <a:r>
                        <a:rPr sz="1425" b="1">
                          <a:solidFill>
                            <a:srgbClr val="4BD2C0"/>
                          </a:solidFill>
                          <a:latin typeface="Arial"/>
                          <a:ea typeface="Arial"/>
                          <a:cs typeface="Arial"/>
                        </a:rPr>
                        <a:t>Path</a:t>
                      </a:r>
                    </a:p>
                  </a:txBody>
                  <a:tcPr marL="91440" marR="91440" marT="45720" marB="45720" anchor="ctr">
                    <a:solidFill>
                      <a:srgbClr val="172937"/>
                    </a:solidFill>
                  </a:tcPr>
                </a:tc>
                <a:tc>
                  <a:txBody>
                    <a:bodyPr wrap="square" lIns="76200" tIns="57150" rIns="76200" bIns="57150">
                      <a:normAutofit/>
                    </a:bodyPr>
                    <a:lstStyle/>
                    <a:p>
                      <a:r>
                        <a:rPr sz="1425" b="1">
                          <a:solidFill>
                            <a:srgbClr val="4BD2C0"/>
                          </a:solidFill>
                          <a:latin typeface="Arial"/>
                          <a:ea typeface="Arial"/>
                          <a:cs typeface="Arial"/>
                        </a:rPr>
                        <a:t>Models and method</a:t>
                      </a:r>
                    </a:p>
                  </a:txBody>
                  <a:tcPr marL="91440" marR="91440" marT="45720" marB="45720" anchor="ctr">
                    <a:solidFill>
                      <a:srgbClr val="172937"/>
                    </a:solidFill>
                  </a:tcPr>
                </a:tc>
                <a:tc>
                  <a:txBody>
                    <a:bodyPr wrap="square" lIns="76200" tIns="57150" rIns="76200" bIns="57150">
                      <a:normAutofit/>
                    </a:bodyPr>
                    <a:lstStyle/>
                    <a:p>
                      <a:r>
                        <a:rPr sz="1425" b="1">
                          <a:solidFill>
                            <a:srgbClr val="4BD2C0"/>
                          </a:solidFill>
                          <a:latin typeface="Arial"/>
                          <a:ea typeface="Arial"/>
                          <a:cs typeface="Arial"/>
                        </a:rPr>
                        <a:t>Purpose / status</a:t>
                      </a:r>
                    </a:p>
                  </a:txBody>
                  <a:tcPr marL="91440" marR="91440" marT="45720" marB="45720" anchor="ctr">
                    <a:solidFill>
                      <a:srgbClr val="172937"/>
                    </a:solidFill>
                  </a:tcPr>
                </a:tc>
              </a:tr>
              <a:tr h="806450">
                <a:tc>
                  <a:txBody>
                    <a:bodyPr wrap="square" lIns="76200" tIns="57150" rIns="76200" bIns="57150">
                      <a:normAutofit/>
                    </a:bodyPr>
                    <a:lstStyle/>
                    <a:p>
                      <a:r>
                        <a:rPr sz="1350" b="0">
                          <a:solidFill>
                            <a:srgbClr val="F3F5F6"/>
                          </a:solidFill>
                          <a:latin typeface="Arial"/>
                          <a:ea typeface="Arial"/>
                          <a:cs typeface="Arial"/>
                        </a:rPr>
                        <a:t>Configured edge worker</a:t>
                      </a:r>
                    </a:p>
                  </a:txBody>
                  <a:tcPr marL="91440" marR="91440" marT="45720" marB="45720" anchor="ctr">
                    <a:solidFill>
                      <a:srgbClr val="101E2B"/>
                    </a:solidFill>
                  </a:tcPr>
                </a:tc>
                <a:tc>
                  <a:txBody>
                    <a:bodyPr wrap="square" lIns="76200" tIns="57150" rIns="76200" bIns="57150">
                      <a:normAutofit/>
                    </a:bodyPr>
                    <a:lstStyle/>
                    <a:p>
                      <a:r>
                        <a:rPr sz="1350" b="0">
                          <a:solidFill>
                            <a:srgbClr val="F3F5F6"/>
                          </a:solidFill>
                          <a:latin typeface="Arial"/>
                          <a:ea typeface="Arial"/>
                          <a:cs typeface="Arial"/>
                        </a:rPr>
                        <a:t>YOLOv8n + ByteTrack</a:t>
                      </a:r>
                    </a:p>
                    <a:p>
                      <a:r>
                        <a:rPr sz="1350" b="0">
                          <a:solidFill>
                            <a:srgbClr val="F3F5F6"/>
                          </a:solidFill>
                          <a:latin typeface="Arial"/>
                          <a:ea typeface="Arial"/>
                          <a:cs typeface="Arial"/>
                        </a:rPr>
                        <a:t>YOLOv9-Tiny-512 plate detector</a:t>
                      </a:r>
                    </a:p>
                    <a:p>
                      <a:r>
                        <a:rPr sz="1350" b="0">
                          <a:solidFill>
                            <a:srgbClr val="F3F5F6"/>
                          </a:solidFill>
                          <a:latin typeface="Arial"/>
                          <a:ea typeface="Arial"/>
                          <a:cs typeface="Arial"/>
                        </a:rPr>
                        <a:t>FastALPR CCT-S v2 + temporal fusion</a:t>
                      </a:r>
                    </a:p>
                  </a:txBody>
                  <a:tcPr marL="91440" marR="91440" marT="45720" marB="45720" anchor="ctr">
                    <a:solidFill>
                      <a:srgbClr val="101E2B"/>
                    </a:solidFill>
                  </a:tcPr>
                </a:tc>
                <a:tc>
                  <a:txBody>
                    <a:bodyPr wrap="square" lIns="76200" tIns="57150" rIns="76200" bIns="57150">
                      <a:normAutofit/>
                    </a:bodyPr>
                    <a:lstStyle/>
                    <a:p>
                      <a:r>
                        <a:rPr sz="1350" b="0">
                          <a:solidFill>
                            <a:srgbClr val="F3F5F6"/>
                          </a:solidFill>
                          <a:latin typeface="Arial"/>
                          <a:ea typeface="Arial"/>
                          <a:cs typeface="Arial"/>
                        </a:rPr>
                        <a:t>Live vehicle pipeline</a:t>
                      </a:r>
                    </a:p>
                    <a:p>
                      <a:r>
                        <a:rPr sz="1350" b="0">
                          <a:solidFill>
                            <a:srgbClr val="F3F5F6"/>
                          </a:solidFill>
                          <a:latin typeface="Arial"/>
                          <a:ea typeface="Arial"/>
                          <a:cs typeface="Arial"/>
                        </a:rPr>
                        <a:t>Conservative accepted-only delivery</a:t>
                      </a:r>
                    </a:p>
                  </a:txBody>
                  <a:tcPr marL="91440" marR="91440" marT="45720" marB="45720" anchor="ctr">
                    <a:solidFill>
                      <a:srgbClr val="101E2B"/>
                    </a:solidFill>
                  </a:tcPr>
                </a:tc>
              </a:tr>
              <a:tr h="806450">
                <a:tc>
                  <a:txBody>
                    <a:bodyPr wrap="square" lIns="76200" tIns="57150" rIns="76200" bIns="57150">
                      <a:normAutofit/>
                    </a:bodyPr>
                    <a:lstStyle/>
                    <a:p>
                      <a:r>
                        <a:rPr sz="1350" b="0">
                          <a:solidFill>
                            <a:srgbClr val="F3F5F6"/>
                          </a:solidFill>
                          <a:latin typeface="Arial"/>
                          <a:ea typeface="Arial"/>
                          <a:cs typeface="Arial"/>
                        </a:rPr>
                        <a:t>Engineering diagnostic</a:t>
                      </a:r>
                    </a:p>
                  </a:txBody>
                  <a:tcPr marL="91440" marR="91440" marT="45720" marB="45720" anchor="ctr">
                    <a:solidFill>
                      <a:srgbClr val="0D1925"/>
                    </a:solidFill>
                  </a:tcPr>
                </a:tc>
                <a:tc>
                  <a:txBody>
                    <a:bodyPr wrap="square" lIns="76200" tIns="57150" rIns="76200" bIns="57150">
                      <a:normAutofit/>
                    </a:bodyPr>
                    <a:lstStyle/>
                    <a:p>
                      <a:r>
                        <a:rPr sz="1350" b="0">
                          <a:solidFill>
                            <a:srgbClr val="F3F5F6"/>
                          </a:solidFill>
                          <a:latin typeface="Arial"/>
                          <a:ea typeface="Arial"/>
                          <a:cs typeface="Arial"/>
                        </a:rPr>
                        <a:t>YOLO26s + ByteTrack</a:t>
                      </a:r>
                    </a:p>
                    <a:p>
                      <a:r>
                        <a:rPr sz="1350" b="0">
                          <a:solidFill>
                            <a:srgbClr val="F3F5F6"/>
                          </a:solidFill>
                          <a:latin typeface="Arial"/>
                          <a:ea typeface="Arial"/>
                          <a:cs typeface="Arial"/>
                        </a:rPr>
                        <a:t>YOLOv9-Tiny plate detector</a:t>
                      </a:r>
                    </a:p>
                    <a:p>
                      <a:r>
                        <a:rPr sz="1350" b="0">
                          <a:solidFill>
                            <a:srgbClr val="F3F5F6"/>
                          </a:solidFill>
                          <a:latin typeface="Arial"/>
                          <a:ea typeface="Arial"/>
                          <a:cs typeface="Arial"/>
                        </a:rPr>
                        <a:t>Fine-tuned Awiros CTC OCR</a:t>
                      </a:r>
                    </a:p>
                  </a:txBody>
                  <a:tcPr marL="91440" marR="91440" marT="45720" marB="45720" anchor="ctr">
                    <a:solidFill>
                      <a:srgbClr val="0D1925"/>
                    </a:solidFill>
                  </a:tcPr>
                </a:tc>
                <a:tc>
                  <a:txBody>
                    <a:bodyPr wrap="square" lIns="76200" tIns="57150" rIns="76200" bIns="57150">
                      <a:normAutofit/>
                    </a:bodyPr>
                    <a:lstStyle/>
                    <a:p>
                      <a:r>
                        <a:rPr sz="1350" b="0">
                          <a:solidFill>
                            <a:srgbClr val="F3F5F6"/>
                          </a:solidFill>
                          <a:latin typeface="Arial"/>
                          <a:ea typeface="Arial"/>
                          <a:cs typeface="Arial"/>
                        </a:rPr>
                        <a:t>Inspect crops and per-frame evidence</a:t>
                      </a:r>
                    </a:p>
                    <a:p>
                      <a:r>
                        <a:rPr sz="1350" b="0">
                          <a:solidFill>
                            <a:srgbClr val="F3F5F6"/>
                          </a:solidFill>
                          <a:latin typeface="Arial"/>
                          <a:ea typeface="Arial"/>
                          <a:cs typeface="Arial"/>
                        </a:rPr>
                        <a:t>Rank uncertain candidates locally</a:t>
                      </a:r>
                    </a:p>
                  </a:txBody>
                  <a:tcPr marL="91440" marR="91440" marT="45720" marB="45720" anchor="ctr">
                    <a:solidFill>
                      <a:srgbClr val="0D1925"/>
                    </a:solidFill>
                  </a:tcPr>
                </a:tc>
              </a:tr>
              <a:tr h="806450">
                <a:tc>
                  <a:txBody>
                    <a:bodyPr wrap="square" lIns="76200" tIns="57150" rIns="76200" bIns="57150">
                      <a:normAutofit/>
                    </a:bodyPr>
                    <a:lstStyle/>
                    <a:p>
                      <a:r>
                        <a:rPr sz="1350" b="0">
                          <a:solidFill>
                            <a:srgbClr val="F3F5F6"/>
                          </a:solidFill>
                          <a:latin typeface="Arial"/>
                          <a:ea typeface="Arial"/>
                          <a:cs typeface="Arial"/>
                        </a:rPr>
                        <a:t>Offline research</a:t>
                      </a:r>
                    </a:p>
                  </a:txBody>
                  <a:tcPr marL="91440" marR="91440" marT="45720" marB="45720" anchor="ctr">
                    <a:solidFill>
                      <a:srgbClr val="101E2B"/>
                    </a:solidFill>
                  </a:tcPr>
                </a:tc>
                <a:tc>
                  <a:txBody>
                    <a:bodyPr wrap="square" lIns="76200" tIns="57150" rIns="76200" bIns="57150">
                      <a:normAutofit/>
                    </a:bodyPr>
                    <a:lstStyle/>
                    <a:p>
                      <a:r>
                        <a:rPr sz="1350" b="0">
                          <a:solidFill>
                            <a:srgbClr val="F3F5F6"/>
                          </a:solidFill>
                          <a:latin typeface="Arial"/>
                          <a:ea typeface="Arial"/>
                          <a:cs typeface="Arial"/>
                        </a:rPr>
                        <a:t>PARSeq OCR</a:t>
                      </a:r>
                    </a:p>
                    <a:p>
                      <a:r>
                        <a:rPr sz="1350" b="0">
                          <a:solidFill>
                            <a:srgbClr val="F3F5F6"/>
                          </a:solidFill>
                          <a:latin typeface="Arial"/>
                          <a:ea typeface="Arial"/>
                          <a:cs typeface="Arial"/>
                        </a:rPr>
                        <a:t>ECC alignment and crop fusion</a:t>
                      </a:r>
                    </a:p>
                    <a:p>
                      <a:r>
                        <a:rPr sz="1350" b="0">
                          <a:solidFill>
                            <a:srgbClr val="F3F5F6"/>
                          </a:solidFill>
                          <a:latin typeface="Arial"/>
                          <a:ea typeface="Arial"/>
                          <a:cs typeface="Arial"/>
                        </a:rPr>
                        <a:t>RAFT / NAFNet experiments</a:t>
                      </a:r>
                    </a:p>
                  </a:txBody>
                  <a:tcPr marL="91440" marR="91440" marT="45720" marB="45720" anchor="ctr">
                    <a:solidFill>
                      <a:srgbClr val="101E2B"/>
                    </a:solidFill>
                  </a:tcPr>
                </a:tc>
                <a:tc>
                  <a:txBody>
                    <a:bodyPr wrap="square" lIns="76200" tIns="57150" rIns="76200" bIns="57150">
                      <a:normAutofit/>
                    </a:bodyPr>
                    <a:lstStyle/>
                    <a:p>
                      <a:r>
                        <a:rPr sz="1350" b="0">
                          <a:solidFill>
                            <a:srgbClr val="F3F5F6"/>
                          </a:solidFill>
                          <a:latin typeface="Arial"/>
                          <a:ea typeface="Arial"/>
                          <a:cs typeface="Arial"/>
                        </a:rPr>
                        <a:t>Separate experiments</a:t>
                      </a:r>
                    </a:p>
                    <a:p>
                      <a:r>
                        <a:rPr sz="1350" b="0">
                          <a:solidFill>
                            <a:srgbClr val="F3F5F6"/>
                          </a:solidFill>
                          <a:latin typeface="Arial"/>
                          <a:ea typeface="Arial"/>
                          <a:cs typeface="Arial"/>
                        </a:rPr>
                        <a:t>Not promoted as proven live accuracy</a:t>
                      </a:r>
                    </a:p>
                  </a:txBody>
                  <a:tcPr marL="91440" marR="91440" marT="45720" marB="45720" anchor="ctr">
                    <a:solidFill>
                      <a:srgbClr val="101E2B"/>
                    </a:solidFill>
                  </a:tcPr>
                </a:tc>
              </a:tr>
            </a:tbl>
          </a:graphicData>
        </a:graphic>
      </p:graphicFrame>
      <p:sp>
        <p:nvSpPr>
          <p:cNvPr id="5" name="">
            <a:extLst xmlns:a="http://schemas.openxmlformats.org/drawingml/2006/main">
              <a:ext uri="{FF2B5EF4-FFF2-40B4-BE49-F238E27FC236}">
                <a16:creationId xmlns:a16="http://schemas.microsoft.com/office/drawing/2014/main" id="{81B7D750-D54F-4C33-902B-887CFFB5B7DB}"/>
              </a:ext>
            </a:extLst>
          </p:cNvPr>
          <p:cNvSpPr>
            <a:spLocks xmlns:a="http://schemas.openxmlformats.org/drawingml/2006/main" noGrp="1"/>
          </p:cNvSpPr>
          <p:nvPr/>
        </p:nvSpPr>
        <p:spPr>
          <a:xfrm xmlns:a="http://schemas.openxmlformats.org/drawingml/2006/main">
            <a:off x="666750" y="5257800"/>
            <a:ext cx="10715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a:solidFill>
                  <a:srgbClr val="ACBBC4"/>
                </a:solidFill>
                <a:latin typeface="Arial"/>
                <a:ea typeface="Arial"/>
                <a:cs typeface="Arial"/>
              </a:defRPr>
            </a:pPr>
            <a:r>
              <a:rPr sz="1425" b="0">
                <a:solidFill>
                  <a:srgbClr val="ACBBC4"/>
                </a:solidFill>
                <a:latin typeface="Arial"/>
                <a:ea typeface="Arial"/>
                <a:cs typeface="Arial"/>
              </a:rPr>
              <a:t>Multi-frame fusion combines OCR distributions from distinct original frames. It is not a separately trained temporal neural network and does not recover detail that the camera never captured.</a:t>
            </a:r>
          </a:p>
        </p:txBody>
      </p:sp>
      <p:sp>
        <p:nvSpPr>
          <p:cNvPr id="6" name="">
            <a:extLst xmlns:a="http://schemas.openxmlformats.org/drawingml/2006/main">
              <a:ext uri="{FF2B5EF4-FFF2-40B4-BE49-F238E27FC236}">
                <a16:creationId xmlns:a16="http://schemas.microsoft.com/office/drawing/2014/main" id="{7BB9158D-3CDE-4410-B36D-82950FBCFD72}"/>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8D73B84-FE1A-46F6-9387-D58614DCFEFE}"/>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8" name="">
            <a:extLst xmlns:a="http://schemas.openxmlformats.org/drawingml/2006/main">
              <a:ext uri="{FF2B5EF4-FFF2-40B4-BE49-F238E27FC236}">
                <a16:creationId xmlns:a16="http://schemas.microsoft.com/office/drawing/2014/main" id="{97B260BF-0849-4202-8D81-51AE5A09C8A0}"/>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07</a:t>
            </a:r>
          </a:p>
        </p:txBody>
      </p:sp>
    </p:spTree>
    <p:extLst>
      <p:ext uri="{BB962C8B-B14F-4D97-AF65-F5344CB8AC3E}">
        <p14:creationId xmlns:p14="http://schemas.microsoft.com/office/powerpoint/2010/main" val="343471579"/>
      </p:ext>
    </p:extLst>
  </p:cSld>
</p:sld>
</file>

<file path=ppt/slides/slide8.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1D12CBA-A242-4C38-9D1E-62037DFAEC23}"/>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WORK COMPLETED</a:t>
            </a:r>
          </a:p>
        </p:txBody>
      </p:sp>
      <p:sp>
        <p:nvSpPr>
          <p:cNvPr id="2" name="">
            <a:extLst xmlns:a="http://schemas.openxmlformats.org/drawingml/2006/main">
              <a:ext uri="{FF2B5EF4-FFF2-40B4-BE49-F238E27FC236}">
                <a16:creationId xmlns:a16="http://schemas.microsoft.com/office/drawing/2014/main" id="{520A8CE8-65C6-4574-B010-BBCEDF789521}"/>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Recognition experiments and findings</a:t>
            </a:r>
          </a:p>
        </p:txBody>
      </p:sp>
      <p:sp>
        <p:nvSpPr>
          <p:cNvPr id="3" name="">
            <a:extLst xmlns:a="http://schemas.openxmlformats.org/drawingml/2006/main">
              <a:ext uri="{FF2B5EF4-FFF2-40B4-BE49-F238E27FC236}">
                <a16:creationId xmlns:a16="http://schemas.microsoft.com/office/drawing/2014/main" id="{FC742E50-DACB-4B32-8F12-4445A99B64D7}"/>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More processing produced more hypotheses, but did not yet establish correct live readings.</a:t>
            </a:r>
          </a:p>
        </p:txBody>
      </p:sp>
      <p:sp>
        <p:nvSpPr>
          <p:cNvPr id="4" name="">
            <a:extLst xmlns:a="http://schemas.openxmlformats.org/drawingml/2006/main">
              <a:ext uri="{FF2B5EF4-FFF2-40B4-BE49-F238E27FC236}">
                <a16:creationId xmlns:a16="http://schemas.microsoft.com/office/drawing/2014/main" id="{FBAED5E3-9E08-4F3D-BE0A-C64C4D86797B}"/>
              </a:ext>
            </a:extLst>
          </p:cNvPr>
          <p:cNvSpPr>
            <a:spLocks xmlns:a="http://schemas.openxmlformats.org/drawingml/2006/main" noGrp="1"/>
          </p:cNvSpPr>
          <p:nvPr/>
        </p:nvSpPr>
        <p:spPr>
          <a:xfrm xmlns:a="http://schemas.openxmlformats.org/drawingml/2006/main">
            <a:off x="666750" y="210502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4BD2C0"/>
                </a:solidFill>
                <a:latin typeface="Arial"/>
                <a:ea typeface="Arial"/>
                <a:cs typeface="Arial"/>
              </a:defRPr>
            </a:pPr>
            <a:r>
              <a:rPr sz="1200" b="1">
                <a:solidFill>
                  <a:srgbClr val="4BD2C0"/>
                </a:solidFill>
                <a:latin typeface="Arial"/>
                <a:ea typeface="Arial"/>
                <a:cs typeface="Arial"/>
              </a:rPr>
              <a:t>WHAT WE BUILT AND TESTED</a:t>
            </a:r>
          </a:p>
        </p:txBody>
      </p:sp>
      <p:sp>
        <p:nvSpPr>
          <p:cNvPr id="5" name="">
            <a:extLst xmlns:a="http://schemas.openxmlformats.org/drawingml/2006/main">
              <a:ext uri="{FF2B5EF4-FFF2-40B4-BE49-F238E27FC236}">
                <a16:creationId xmlns:a16="http://schemas.microsoft.com/office/drawing/2014/main" id="{3C86D2E9-98A7-4F1E-AF53-AFD63988892B}"/>
              </a:ext>
            </a:extLst>
          </p:cNvPr>
          <p:cNvSpPr>
            <a:spLocks xmlns:a="http://schemas.openxmlformats.org/drawingml/2006/main" noGrp="1"/>
          </p:cNvSpPr>
          <p:nvPr/>
        </p:nvSpPr>
        <p:spPr>
          <a:xfrm xmlns:a="http://schemas.openxmlformats.org/drawingml/2006/main">
            <a:off x="666750" y="260985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B6E16F9-7BCE-489C-A5BD-2C54D9C06C9A}"/>
              </a:ext>
            </a:extLst>
          </p:cNvPr>
          <p:cNvSpPr>
            <a:spLocks xmlns:a="http://schemas.openxmlformats.org/drawingml/2006/main" noGrp="1"/>
          </p:cNvSpPr>
          <p:nvPr/>
        </p:nvSpPr>
        <p:spPr>
          <a:xfrm xmlns:a="http://schemas.openxmlformats.org/drawingml/2006/main">
            <a:off x="857250" y="2533650"/>
            <a:ext cx="481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Detector comparisons</a:t>
            </a:r>
          </a:p>
        </p:txBody>
      </p:sp>
      <p:sp>
        <p:nvSpPr>
          <p:cNvPr id="7" name="">
            <a:extLst xmlns:a="http://schemas.openxmlformats.org/drawingml/2006/main">
              <a:ext uri="{FF2B5EF4-FFF2-40B4-BE49-F238E27FC236}">
                <a16:creationId xmlns:a16="http://schemas.microsoft.com/office/drawing/2014/main" id="{35F5EBEC-E806-45E9-97C9-8D131C9F10FE}"/>
              </a:ext>
            </a:extLst>
          </p:cNvPr>
          <p:cNvSpPr>
            <a:spLocks xmlns:a="http://schemas.openxmlformats.org/drawingml/2006/main" noGrp="1"/>
          </p:cNvSpPr>
          <p:nvPr/>
        </p:nvSpPr>
        <p:spPr>
          <a:xfrm xmlns:a="http://schemas.openxmlformats.org/drawingml/2006/main">
            <a:off x="857250" y="2819400"/>
            <a:ext cx="4772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Tested different vehicle and plate detector sizes, including adapted models.</a:t>
            </a:r>
          </a:p>
        </p:txBody>
      </p:sp>
      <p:sp>
        <p:nvSpPr>
          <p:cNvPr id="8" name="">
            <a:extLst xmlns:a="http://schemas.openxmlformats.org/drawingml/2006/main">
              <a:ext uri="{FF2B5EF4-FFF2-40B4-BE49-F238E27FC236}">
                <a16:creationId xmlns:a16="http://schemas.microsoft.com/office/drawing/2014/main" id="{03D6CB3B-51DB-48B4-A881-6B9972E9D864}"/>
              </a:ext>
            </a:extLst>
          </p:cNvPr>
          <p:cNvSpPr>
            <a:spLocks xmlns:a="http://schemas.openxmlformats.org/drawingml/2006/main" noGrp="1"/>
          </p:cNvSpPr>
          <p:nvPr/>
        </p:nvSpPr>
        <p:spPr>
          <a:xfrm xmlns:a="http://schemas.openxmlformats.org/drawingml/2006/main">
            <a:off x="666750" y="355282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D8F33A6-41B0-46B5-BD83-80FF69A71F20}"/>
              </a:ext>
            </a:extLst>
          </p:cNvPr>
          <p:cNvSpPr>
            <a:spLocks xmlns:a="http://schemas.openxmlformats.org/drawingml/2006/main" noGrp="1"/>
          </p:cNvSpPr>
          <p:nvPr/>
        </p:nvSpPr>
        <p:spPr>
          <a:xfrm xmlns:a="http://schemas.openxmlformats.org/drawingml/2006/main">
            <a:off x="857250" y="3476625"/>
            <a:ext cx="481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Indian OCR fine-tuning</a:t>
            </a:r>
          </a:p>
        </p:txBody>
      </p:sp>
      <p:sp>
        <p:nvSpPr>
          <p:cNvPr id="10" name="">
            <a:extLst xmlns:a="http://schemas.openxmlformats.org/drawingml/2006/main">
              <a:ext uri="{FF2B5EF4-FFF2-40B4-BE49-F238E27FC236}">
                <a16:creationId xmlns:a16="http://schemas.microsoft.com/office/drawing/2014/main" id="{B8C7BFD1-F5E8-4E59-A6E8-6BB90F87CCD3}"/>
              </a:ext>
            </a:extLst>
          </p:cNvPr>
          <p:cNvSpPr>
            <a:spLocks xmlns:a="http://schemas.openxmlformats.org/drawingml/2006/main" noGrp="1"/>
          </p:cNvSpPr>
          <p:nvPr/>
        </p:nvSpPr>
        <p:spPr>
          <a:xfrm xmlns:a="http://schemas.openxmlformats.org/drawingml/2006/main">
            <a:off x="857250" y="3762375"/>
            <a:ext cx="4772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Adapted an OCR checkpoint and audited candidate datasets and label quality.</a:t>
            </a:r>
          </a:p>
        </p:txBody>
      </p:sp>
      <p:sp>
        <p:nvSpPr>
          <p:cNvPr id="11" name="">
            <a:extLst xmlns:a="http://schemas.openxmlformats.org/drawingml/2006/main">
              <a:ext uri="{FF2B5EF4-FFF2-40B4-BE49-F238E27FC236}">
                <a16:creationId xmlns:a16="http://schemas.microsoft.com/office/drawing/2014/main" id="{6CBBF7F6-63C9-4876-873D-DDAC4C460673}"/>
              </a:ext>
            </a:extLst>
          </p:cNvPr>
          <p:cNvSpPr>
            <a:spLocks xmlns:a="http://schemas.openxmlformats.org/drawingml/2006/main" noGrp="1"/>
          </p:cNvSpPr>
          <p:nvPr/>
        </p:nvSpPr>
        <p:spPr>
          <a:xfrm xmlns:a="http://schemas.openxmlformats.org/drawingml/2006/main">
            <a:off x="666750" y="451485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0FB17C4-1582-49F0-9A81-8B726E705C42}"/>
              </a:ext>
            </a:extLst>
          </p:cNvPr>
          <p:cNvSpPr>
            <a:spLocks xmlns:a="http://schemas.openxmlformats.org/drawingml/2006/main" noGrp="1"/>
          </p:cNvSpPr>
          <p:nvPr/>
        </p:nvSpPr>
        <p:spPr>
          <a:xfrm xmlns:a="http://schemas.openxmlformats.org/drawingml/2006/main">
            <a:off x="857250" y="4438650"/>
            <a:ext cx="481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Multi-frame recognition</a:t>
            </a:r>
          </a:p>
        </p:txBody>
      </p:sp>
      <p:sp>
        <p:nvSpPr>
          <p:cNvPr id="13" name="">
            <a:extLst xmlns:a="http://schemas.openxmlformats.org/drawingml/2006/main">
              <a:ext uri="{FF2B5EF4-FFF2-40B4-BE49-F238E27FC236}">
                <a16:creationId xmlns:a16="http://schemas.microsoft.com/office/drawing/2014/main" id="{573F866F-861C-4028-8D33-88701D67E2A1}"/>
              </a:ext>
            </a:extLst>
          </p:cNvPr>
          <p:cNvSpPr>
            <a:spLocks xmlns:a="http://schemas.openxmlformats.org/drawingml/2006/main" noGrp="1"/>
          </p:cNvSpPr>
          <p:nvPr/>
        </p:nvSpPr>
        <p:spPr>
          <a:xfrm xmlns:a="http://schemas.openxmlformats.org/drawingml/2006/main">
            <a:off x="857250" y="4724400"/>
            <a:ext cx="47720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Compared per-frame evidence, sequence ranking and native-grid reconstruction.</a:t>
            </a:r>
          </a:p>
        </p:txBody>
      </p:sp>
      <p:sp>
        <p:nvSpPr>
          <p:cNvPr id="14" name="">
            <a:extLst xmlns:a="http://schemas.openxmlformats.org/drawingml/2006/main">
              <a:ext uri="{FF2B5EF4-FFF2-40B4-BE49-F238E27FC236}">
                <a16:creationId xmlns:a16="http://schemas.microsoft.com/office/drawing/2014/main" id="{F1A80664-F7BF-4D86-B0C9-BD4B76FCD817}"/>
              </a:ext>
            </a:extLst>
          </p:cNvPr>
          <p:cNvSpPr>
            <a:spLocks xmlns:a="http://schemas.openxmlformats.org/drawingml/2006/main" noGrp="1"/>
          </p:cNvSpPr>
          <p:nvPr/>
        </p:nvSpPr>
        <p:spPr>
          <a:xfrm xmlns:a="http://schemas.openxmlformats.org/drawingml/2006/main">
            <a:off x="6048375" y="2133600"/>
            <a:ext cx="9525" cy="3429000"/>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9935123-8B88-4873-93F3-C1E47A50C6A4}"/>
              </a:ext>
            </a:extLst>
          </p:cNvPr>
          <p:cNvSpPr>
            <a:spLocks xmlns:a="http://schemas.openxmlformats.org/drawingml/2006/main" noGrp="1"/>
          </p:cNvSpPr>
          <p:nvPr/>
        </p:nvSpPr>
        <p:spPr>
          <a:xfrm xmlns:a="http://schemas.openxmlformats.org/drawingml/2006/main">
            <a:off x="6496050" y="2105025"/>
            <a:ext cx="490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F1B86D"/>
                </a:solidFill>
                <a:latin typeface="Arial"/>
                <a:ea typeface="Arial"/>
                <a:cs typeface="Arial"/>
              </a:defRPr>
            </a:pPr>
            <a:r>
              <a:rPr sz="1200" b="1">
                <a:solidFill>
                  <a:srgbClr val="F1B86D"/>
                </a:solidFill>
                <a:latin typeface="Arial"/>
                <a:ea typeface="Arial"/>
                <a:cs typeface="Arial"/>
              </a:rPr>
              <a:t>WHAT THE CONTROLLED PILOT SHOWED</a:t>
            </a:r>
          </a:p>
        </p:txBody>
      </p:sp>
      <p:sp>
        <p:nvSpPr>
          <p:cNvPr id="16" name="">
            <a:extLst xmlns:a="http://schemas.openxmlformats.org/drawingml/2006/main">
              <a:ext uri="{FF2B5EF4-FFF2-40B4-BE49-F238E27FC236}">
                <a16:creationId xmlns:a16="http://schemas.microsoft.com/office/drawing/2014/main" id="{36018538-E418-4A84-9D81-315890908416}"/>
              </a:ext>
            </a:extLst>
          </p:cNvPr>
          <p:cNvSpPr>
            <a:spLocks xmlns:a="http://schemas.openxmlformats.org/drawingml/2006/main" noGrp="1"/>
          </p:cNvSpPr>
          <p:nvPr/>
        </p:nvSpPr>
        <p:spPr>
          <a:xfrm xmlns:a="http://schemas.openxmlformats.org/drawingml/2006/main">
            <a:off x="6496050" y="2571750"/>
            <a:ext cx="4857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400" b="1">
                <a:solidFill>
                  <a:srgbClr val="F3F5F6"/>
                </a:solidFill>
                <a:latin typeface="Arial"/>
                <a:ea typeface="Arial"/>
                <a:cs typeface="Arial"/>
              </a:defRPr>
            </a:pPr>
            <a:r>
              <a:rPr sz="2400" b="1">
                <a:solidFill>
                  <a:srgbClr val="F3F5F6"/>
                </a:solidFill>
                <a:latin typeface="Arial"/>
                <a:ea typeface="Arial"/>
                <a:cs typeface="Arial"/>
              </a:rPr>
              <a:t>84 degradation evaluations</a:t>
            </a:r>
          </a:p>
          <a:p xmlns:a="http://schemas.openxmlformats.org/drawingml/2006/main">
            <a:pPr algn="l">
              <a:lnSpc>
                <a:spcPct val="108000"/>
              </a:lnSpc>
              <a:buNone/>
              <a:defRPr sz="2400" b="1">
                <a:solidFill>
                  <a:srgbClr val="F3F5F6"/>
                </a:solidFill>
                <a:latin typeface="Arial"/>
                <a:ea typeface="Arial"/>
                <a:cs typeface="Arial"/>
              </a:defRPr>
            </a:pPr>
            <a:r>
              <a:rPr sz="2400" b="1">
                <a:solidFill>
                  <a:srgbClr val="F3F5F6"/>
                </a:solidFill>
                <a:latin typeface="Arial"/>
                <a:ea typeface="Arial"/>
                <a:cs typeface="Arial"/>
              </a:rPr>
              <a:t>0 accepted readings</a:t>
            </a:r>
          </a:p>
        </p:txBody>
      </p:sp>
      <p:sp>
        <p:nvSpPr>
          <p:cNvPr id="17" name="">
            <a:extLst xmlns:a="http://schemas.openxmlformats.org/drawingml/2006/main">
              <a:ext uri="{FF2B5EF4-FFF2-40B4-BE49-F238E27FC236}">
                <a16:creationId xmlns:a16="http://schemas.microsoft.com/office/drawing/2014/main" id="{02600E41-D4A0-4E21-93BD-FEF3B416CAC6}"/>
              </a:ext>
            </a:extLst>
          </p:cNvPr>
          <p:cNvSpPr>
            <a:spLocks xmlns:a="http://schemas.openxmlformats.org/drawingml/2006/main" noGrp="1"/>
          </p:cNvSpPr>
          <p:nvPr/>
        </p:nvSpPr>
        <p:spPr>
          <a:xfrm xmlns:a="http://schemas.openxmlformats.org/drawingml/2006/main">
            <a:off x="6496050" y="3581400"/>
            <a:ext cx="4857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00" b="0">
                <a:solidFill>
                  <a:srgbClr val="ACBBC4"/>
                </a:solidFill>
                <a:latin typeface="Arial"/>
                <a:ea typeface="Arial"/>
                <a:cs typeface="Arial"/>
              </a:defRPr>
            </a:pPr>
            <a:r>
              <a:rPr sz="1500" b="0">
                <a:solidFill>
                  <a:srgbClr val="ACBBC4"/>
                </a:solidFill>
                <a:latin typeface="Arial"/>
                <a:ea typeface="Arial"/>
                <a:cs typeface="Arial"/>
              </a:rPr>
              <a:t>The hybrid candidate search retained the labelled truth in more conditions than the CCT comparison, but ranked it first less often. Candidate inclusion is not a correct read.</a:t>
            </a:r>
          </a:p>
        </p:txBody>
      </p:sp>
      <p:sp>
        <p:nvSpPr>
          <p:cNvPr id="18" name="">
            <a:extLst xmlns:a="http://schemas.openxmlformats.org/drawingml/2006/main">
              <a:ext uri="{FF2B5EF4-FFF2-40B4-BE49-F238E27FC236}">
                <a16:creationId xmlns:a16="http://schemas.microsoft.com/office/drawing/2014/main" id="{9196CD5A-2543-495C-826D-2FF4C9F067D0}"/>
              </a:ext>
            </a:extLst>
          </p:cNvPr>
          <p:cNvSpPr>
            <a:spLocks xmlns:a="http://schemas.openxmlformats.org/drawingml/2006/main" noGrp="1"/>
          </p:cNvSpPr>
          <p:nvPr/>
        </p:nvSpPr>
        <p:spPr>
          <a:xfrm xmlns:a="http://schemas.openxmlformats.org/drawingml/2006/main">
            <a:off x="6496050" y="495300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F1B86D"/>
                </a:solidFill>
                <a:latin typeface="Arial"/>
                <a:ea typeface="Arial"/>
                <a:cs typeface="Arial"/>
              </a:defRPr>
            </a:pPr>
            <a:r>
              <a:rPr sz="1500" b="1">
                <a:solidFill>
                  <a:srgbClr val="F1B86D"/>
                </a:solidFill>
                <a:latin typeface="Arial"/>
                <a:ea typeface="Arial"/>
                <a:cs typeface="Arial"/>
              </a:rPr>
              <a:t>No threshold was lowered to manufacture alerts.</a:t>
            </a:r>
          </a:p>
        </p:txBody>
      </p:sp>
      <p:sp>
        <p:nvSpPr>
          <p:cNvPr id="19" name="">
            <a:extLst xmlns:a="http://schemas.openxmlformats.org/drawingml/2006/main">
              <a:ext uri="{FF2B5EF4-FFF2-40B4-BE49-F238E27FC236}">
                <a16:creationId xmlns:a16="http://schemas.microsoft.com/office/drawing/2014/main" id="{C09E4716-05F7-4504-B2C8-5E431D02EDCB}"/>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2F81452-7A1B-4FAE-9DED-8D7C9E5BA1C6}"/>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21" name="">
            <a:extLst xmlns:a="http://schemas.openxmlformats.org/drawingml/2006/main">
              <a:ext uri="{FF2B5EF4-FFF2-40B4-BE49-F238E27FC236}">
                <a16:creationId xmlns:a16="http://schemas.microsoft.com/office/drawing/2014/main" id="{9CEFB37A-096E-4A91-AAD9-08EB5E1BD3E6}"/>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08</a:t>
            </a:r>
          </a:p>
        </p:txBody>
      </p:sp>
    </p:spTree>
    <p:extLst>
      <p:ext uri="{BB962C8B-B14F-4D97-AF65-F5344CB8AC3E}">
        <p14:creationId xmlns:p14="http://schemas.microsoft.com/office/powerpoint/2010/main" val="708282796"/>
      </p:ext>
    </p:extLst>
  </p:cSld>
</p:sld>
</file>

<file path=ppt/slides/slide9.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A4F43B-7470-470C-AAF9-438C7C80E36D}"/>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1A66452B-95F4-437E-8BFC-D353AA140DD0}"/>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Software validation</a:t>
            </a:r>
          </a:p>
        </p:txBody>
      </p:sp>
      <p:sp>
        <p:nvSpPr>
          <p:cNvPr id="3" name="">
            <a:extLst xmlns:a="http://schemas.openxmlformats.org/drawingml/2006/main">
              <a:ext uri="{FF2B5EF4-FFF2-40B4-BE49-F238E27FC236}">
                <a16:creationId xmlns:a16="http://schemas.microsoft.com/office/drawing/2014/main" id="{17FB2B39-EA1D-4179-B2A7-1A1346751FEA}"/>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The application workflow is substantially further along than live plate accuracy.</a:t>
            </a:r>
          </a:p>
        </p:txBody>
      </p:sp>
      <p:sp>
        <p:nvSpPr>
          <p:cNvPr id="4" name="">
            <a:extLst xmlns:a="http://schemas.openxmlformats.org/drawingml/2006/main">
              <a:ext uri="{FF2B5EF4-FFF2-40B4-BE49-F238E27FC236}">
                <a16:creationId xmlns:a16="http://schemas.microsoft.com/office/drawing/2014/main" id="{9330109F-3EA7-4604-86F6-85458B859550}"/>
              </a:ext>
            </a:extLst>
          </p:cNvPr>
          <p:cNvSpPr>
            <a:spLocks xmlns:a="http://schemas.openxmlformats.org/drawingml/2006/main" noGrp="1"/>
          </p:cNvSpPr>
          <p:nvPr/>
        </p:nvSpPr>
        <p:spPr>
          <a:xfrm xmlns:a="http://schemas.openxmlformats.org/drawingml/2006/main">
            <a:off x="742950" y="2409825"/>
            <a:ext cx="219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3600" b="1">
                <a:solidFill>
                  <a:srgbClr val="4BD2C0"/>
                </a:solidFill>
                <a:latin typeface="Arial"/>
                <a:ea typeface="Arial"/>
                <a:cs typeface="Arial"/>
              </a:defRPr>
            </a:pPr>
            <a:r>
              <a:rPr sz="3600" b="1">
                <a:solidFill>
                  <a:srgbClr val="4BD2C0"/>
                </a:solidFill>
                <a:latin typeface="Arial"/>
                <a:ea typeface="Arial"/>
                <a:cs typeface="Arial"/>
              </a:rPr>
              <a:t>282</a:t>
            </a:r>
          </a:p>
        </p:txBody>
      </p:sp>
      <p:sp>
        <p:nvSpPr>
          <p:cNvPr id="5" name="">
            <a:extLst xmlns:a="http://schemas.openxmlformats.org/drawingml/2006/main">
              <a:ext uri="{FF2B5EF4-FFF2-40B4-BE49-F238E27FC236}">
                <a16:creationId xmlns:a16="http://schemas.microsoft.com/office/drawing/2014/main" id="{29BBDA4D-3BF4-4F1A-A9F4-691FCF118E0B}"/>
              </a:ext>
            </a:extLst>
          </p:cNvPr>
          <p:cNvSpPr>
            <a:spLocks xmlns:a="http://schemas.openxmlformats.org/drawingml/2006/main" noGrp="1"/>
          </p:cNvSpPr>
          <p:nvPr/>
        </p:nvSpPr>
        <p:spPr>
          <a:xfrm xmlns:a="http://schemas.openxmlformats.org/drawingml/2006/main">
            <a:off x="742950" y="314325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350" b="0">
                <a:solidFill>
                  <a:srgbClr val="ACBBC4"/>
                </a:solidFill>
                <a:latin typeface="Arial"/>
                <a:ea typeface="Arial"/>
                <a:cs typeface="Arial"/>
              </a:defRPr>
            </a:pPr>
            <a:r>
              <a:rPr sz="1350" b="0">
                <a:solidFill>
                  <a:srgbClr val="ACBBC4"/>
                </a:solidFill>
                <a:latin typeface="Arial"/>
                <a:ea typeface="Arial"/>
                <a:cs typeface="Arial"/>
              </a:rPr>
              <a:t>edge tests passed</a:t>
            </a:r>
          </a:p>
        </p:txBody>
      </p:sp>
      <p:sp>
        <p:nvSpPr>
          <p:cNvPr id="6" name="">
            <a:extLst xmlns:a="http://schemas.openxmlformats.org/drawingml/2006/main">
              <a:ext uri="{FF2B5EF4-FFF2-40B4-BE49-F238E27FC236}">
                <a16:creationId xmlns:a16="http://schemas.microsoft.com/office/drawing/2014/main" id="{AA26D42F-4DB4-4EE0-9D1B-A1DA93885FBD}"/>
              </a:ext>
            </a:extLst>
          </p:cNvPr>
          <p:cNvSpPr>
            <a:spLocks xmlns:a="http://schemas.openxmlformats.org/drawingml/2006/main" noGrp="1"/>
          </p:cNvSpPr>
          <p:nvPr/>
        </p:nvSpPr>
        <p:spPr>
          <a:xfrm xmlns:a="http://schemas.openxmlformats.org/drawingml/2006/main">
            <a:off x="3419475" y="2409825"/>
            <a:ext cx="219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3600" b="1">
                <a:solidFill>
                  <a:srgbClr val="4BD2C0"/>
                </a:solidFill>
                <a:latin typeface="Arial"/>
                <a:ea typeface="Arial"/>
                <a:cs typeface="Arial"/>
              </a:defRPr>
            </a:pPr>
            <a:r>
              <a:rPr sz="3600" b="1">
                <a:solidFill>
                  <a:srgbClr val="4BD2C0"/>
                </a:solidFill>
                <a:latin typeface="Arial"/>
                <a:ea typeface="Arial"/>
                <a:cs typeface="Arial"/>
              </a:rPr>
              <a:t>53</a:t>
            </a:r>
          </a:p>
        </p:txBody>
      </p:sp>
      <p:sp>
        <p:nvSpPr>
          <p:cNvPr id="7" name="">
            <a:extLst xmlns:a="http://schemas.openxmlformats.org/drawingml/2006/main">
              <a:ext uri="{FF2B5EF4-FFF2-40B4-BE49-F238E27FC236}">
                <a16:creationId xmlns:a16="http://schemas.microsoft.com/office/drawing/2014/main" id="{72A88976-80C1-43F9-B6A9-EFE867681C6D}"/>
              </a:ext>
            </a:extLst>
          </p:cNvPr>
          <p:cNvSpPr>
            <a:spLocks xmlns:a="http://schemas.openxmlformats.org/drawingml/2006/main" noGrp="1"/>
          </p:cNvSpPr>
          <p:nvPr/>
        </p:nvSpPr>
        <p:spPr>
          <a:xfrm xmlns:a="http://schemas.openxmlformats.org/drawingml/2006/main">
            <a:off x="3419475" y="314325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350" b="0">
                <a:solidFill>
                  <a:srgbClr val="ACBBC4"/>
                </a:solidFill>
                <a:latin typeface="Arial"/>
                <a:ea typeface="Arial"/>
                <a:cs typeface="Arial"/>
              </a:defRPr>
            </a:pPr>
            <a:r>
              <a:rPr sz="1350" b="0">
                <a:solidFill>
                  <a:srgbClr val="ACBBC4"/>
                </a:solidFill>
                <a:latin typeface="Arial"/>
                <a:ea typeface="Arial"/>
                <a:cs typeface="Arial"/>
              </a:rPr>
              <a:t>backend tests passed</a:t>
            </a:r>
          </a:p>
        </p:txBody>
      </p:sp>
      <p:sp>
        <p:nvSpPr>
          <p:cNvPr id="8" name="">
            <a:extLst xmlns:a="http://schemas.openxmlformats.org/drawingml/2006/main">
              <a:ext uri="{FF2B5EF4-FFF2-40B4-BE49-F238E27FC236}">
                <a16:creationId xmlns:a16="http://schemas.microsoft.com/office/drawing/2014/main" id="{45C56668-C762-4944-A838-70A667E2B25C}"/>
              </a:ext>
            </a:extLst>
          </p:cNvPr>
          <p:cNvSpPr>
            <a:spLocks xmlns:a="http://schemas.openxmlformats.org/drawingml/2006/main" noGrp="1"/>
          </p:cNvSpPr>
          <p:nvPr/>
        </p:nvSpPr>
        <p:spPr>
          <a:xfrm xmlns:a="http://schemas.openxmlformats.org/drawingml/2006/main">
            <a:off x="6096000" y="2409825"/>
            <a:ext cx="219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3600" b="1">
                <a:solidFill>
                  <a:srgbClr val="4BD2C0"/>
                </a:solidFill>
                <a:latin typeface="Arial"/>
                <a:ea typeface="Arial"/>
                <a:cs typeface="Arial"/>
              </a:defRPr>
            </a:pPr>
            <a:r>
              <a:rPr sz="3600" b="1">
                <a:solidFill>
                  <a:srgbClr val="4BD2C0"/>
                </a:solidFill>
                <a:latin typeface="Arial"/>
                <a:ea typeface="Arial"/>
                <a:cs typeface="Arial"/>
              </a:rPr>
              <a:t>15</a:t>
            </a:r>
          </a:p>
        </p:txBody>
      </p:sp>
      <p:sp>
        <p:nvSpPr>
          <p:cNvPr id="9" name="">
            <a:extLst xmlns:a="http://schemas.openxmlformats.org/drawingml/2006/main">
              <a:ext uri="{FF2B5EF4-FFF2-40B4-BE49-F238E27FC236}">
                <a16:creationId xmlns:a16="http://schemas.microsoft.com/office/drawing/2014/main" id="{1F1F958F-B28F-463A-A167-DF1A48D2FADD}"/>
              </a:ext>
            </a:extLst>
          </p:cNvPr>
          <p:cNvSpPr>
            <a:spLocks xmlns:a="http://schemas.openxmlformats.org/drawingml/2006/main" noGrp="1"/>
          </p:cNvSpPr>
          <p:nvPr/>
        </p:nvSpPr>
        <p:spPr>
          <a:xfrm xmlns:a="http://schemas.openxmlformats.org/drawingml/2006/main">
            <a:off x="6096000" y="314325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350" b="0">
                <a:solidFill>
                  <a:srgbClr val="ACBBC4"/>
                </a:solidFill>
                <a:latin typeface="Arial"/>
                <a:ea typeface="Arial"/>
                <a:cs typeface="Arial"/>
              </a:defRPr>
            </a:pPr>
            <a:r>
              <a:rPr sz="1350" b="0">
                <a:solidFill>
                  <a:srgbClr val="ACBBC4"/>
                </a:solidFill>
                <a:latin typeface="Arial"/>
                <a:ea typeface="Arial"/>
                <a:cs typeface="Arial"/>
              </a:rPr>
              <a:t>frontend tests passed</a:t>
            </a:r>
          </a:p>
        </p:txBody>
      </p:sp>
      <p:sp>
        <p:nvSpPr>
          <p:cNvPr id="10" name="">
            <a:extLst xmlns:a="http://schemas.openxmlformats.org/drawingml/2006/main">
              <a:ext uri="{FF2B5EF4-FFF2-40B4-BE49-F238E27FC236}">
                <a16:creationId xmlns:a16="http://schemas.microsoft.com/office/drawing/2014/main" id="{63BEBE98-5D4B-4E0E-A357-EB5726322B71}"/>
              </a:ext>
            </a:extLst>
          </p:cNvPr>
          <p:cNvSpPr>
            <a:spLocks xmlns:a="http://schemas.openxmlformats.org/drawingml/2006/main" noGrp="1"/>
          </p:cNvSpPr>
          <p:nvPr/>
        </p:nvSpPr>
        <p:spPr>
          <a:xfrm xmlns:a="http://schemas.openxmlformats.org/drawingml/2006/main">
            <a:off x="8772525" y="2409825"/>
            <a:ext cx="219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3600" b="1">
                <a:solidFill>
                  <a:srgbClr val="78D2A1"/>
                </a:solidFill>
                <a:latin typeface="Arial"/>
                <a:ea typeface="Arial"/>
                <a:cs typeface="Arial"/>
              </a:defRPr>
            </a:pPr>
            <a:r>
              <a:rPr sz="3600" b="1">
                <a:solidFill>
                  <a:srgbClr val="78D2A1"/>
                </a:solidFill>
                <a:latin typeface="Arial"/>
                <a:ea typeface="Arial"/>
                <a:cs typeface="Arial"/>
              </a:rPr>
              <a:t>PASS</a:t>
            </a:r>
          </a:p>
        </p:txBody>
      </p:sp>
      <p:sp>
        <p:nvSpPr>
          <p:cNvPr id="11" name="">
            <a:extLst xmlns:a="http://schemas.openxmlformats.org/drawingml/2006/main">
              <a:ext uri="{FF2B5EF4-FFF2-40B4-BE49-F238E27FC236}">
                <a16:creationId xmlns:a16="http://schemas.microsoft.com/office/drawing/2014/main" id="{3B8062C0-8E98-4153-BF91-2B1946A6BFCC}"/>
              </a:ext>
            </a:extLst>
          </p:cNvPr>
          <p:cNvSpPr>
            <a:spLocks xmlns:a="http://schemas.openxmlformats.org/drawingml/2006/main" noGrp="1"/>
          </p:cNvSpPr>
          <p:nvPr/>
        </p:nvSpPr>
        <p:spPr>
          <a:xfrm xmlns:a="http://schemas.openxmlformats.org/drawingml/2006/main">
            <a:off x="8772525" y="314325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350" b="0">
                <a:solidFill>
                  <a:srgbClr val="ACBBC4"/>
                </a:solidFill>
                <a:latin typeface="Arial"/>
                <a:ea typeface="Arial"/>
                <a:cs typeface="Arial"/>
              </a:defRPr>
            </a:pPr>
            <a:r>
              <a:rPr sz="1350" b="0">
                <a:solidFill>
                  <a:srgbClr val="ACBBC4"/>
                </a:solidFill>
                <a:latin typeface="Arial"/>
                <a:ea typeface="Arial"/>
                <a:cs typeface="Arial"/>
              </a:rPr>
              <a:t>dashboard production build</a:t>
            </a:r>
          </a:p>
        </p:txBody>
      </p:sp>
      <p:sp>
        <p:nvSpPr>
          <p:cNvPr id="12" name="">
            <a:extLst xmlns:a="http://schemas.openxmlformats.org/drawingml/2006/main">
              <a:ext uri="{FF2B5EF4-FFF2-40B4-BE49-F238E27FC236}">
                <a16:creationId xmlns:a16="http://schemas.microsoft.com/office/drawing/2014/main" id="{FC4092F1-D16E-4A6B-B4DB-ADF7F4097C04}"/>
              </a:ext>
            </a:extLst>
          </p:cNvPr>
          <p:cNvSpPr>
            <a:spLocks xmlns:a="http://schemas.openxmlformats.org/drawingml/2006/main" noGrp="1"/>
          </p:cNvSpPr>
          <p:nvPr/>
        </p:nvSpPr>
        <p:spPr>
          <a:xfrm xmlns:a="http://schemas.openxmlformats.org/drawingml/2006/main">
            <a:off x="762000" y="4010025"/>
            <a:ext cx="106680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3553BA2-9895-490B-80A1-B737365E61F3}"/>
              </a:ext>
            </a:extLst>
          </p:cNvPr>
          <p:cNvSpPr>
            <a:spLocks xmlns:a="http://schemas.openxmlformats.org/drawingml/2006/main" noGrp="1"/>
          </p:cNvSpPr>
          <p:nvPr/>
        </p:nvSpPr>
        <p:spPr>
          <a:xfrm xmlns:a="http://schemas.openxmlformats.org/drawingml/2006/main">
            <a:off x="781050" y="4314825"/>
            <a:ext cx="4905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4BD2C0"/>
                </a:solidFill>
                <a:latin typeface="Arial"/>
                <a:ea typeface="Arial"/>
                <a:cs typeface="Arial"/>
              </a:defRPr>
            </a:pPr>
            <a:r>
              <a:rPr sz="1200" b="1">
                <a:solidFill>
                  <a:srgbClr val="4BD2C0"/>
                </a:solidFill>
                <a:latin typeface="Arial"/>
                <a:ea typeface="Arial"/>
                <a:cs typeface="Arial"/>
              </a:rPr>
              <a:t>CENTRAL WORKFLOW</a:t>
            </a:r>
          </a:p>
        </p:txBody>
      </p:sp>
      <p:sp>
        <p:nvSpPr>
          <p:cNvPr id="14" name="">
            <a:extLst xmlns:a="http://schemas.openxmlformats.org/drawingml/2006/main">
              <a:ext uri="{FF2B5EF4-FFF2-40B4-BE49-F238E27FC236}">
                <a16:creationId xmlns:a16="http://schemas.microsoft.com/office/drawing/2014/main" id="{11929549-B307-4252-BEFA-79FA85B45273}"/>
              </a:ext>
            </a:extLst>
          </p:cNvPr>
          <p:cNvSpPr>
            <a:spLocks xmlns:a="http://schemas.openxmlformats.org/drawingml/2006/main" noGrp="1"/>
          </p:cNvSpPr>
          <p:nvPr/>
        </p:nvSpPr>
        <p:spPr>
          <a:xfrm xmlns:a="http://schemas.openxmlformats.org/drawingml/2006/main">
            <a:off x="781050" y="4676775"/>
            <a:ext cx="4810125"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F3F5F6"/>
                </a:solidFill>
                <a:latin typeface="Arial"/>
                <a:ea typeface="Arial"/>
                <a:cs typeface="Arial"/>
              </a:defRPr>
            </a:pPr>
            <a:r>
              <a:rPr sz="1575" b="0">
                <a:solidFill>
                  <a:srgbClr val="F3F5F6"/>
                </a:solidFill>
                <a:latin typeface="Arial"/>
                <a:ea typeface="Arial"/>
                <a:cs typeface="Arial"/>
              </a:rPr>
              <a:t>Synthetic watchlist alerts, event de-duplication, operator decisions, route search, reports and queued delivery have passed local checks.</a:t>
            </a:r>
          </a:p>
        </p:txBody>
      </p:sp>
      <p:sp>
        <p:nvSpPr>
          <p:cNvPr id="15" name="">
            <a:extLst xmlns:a="http://schemas.openxmlformats.org/drawingml/2006/main">
              <a:ext uri="{FF2B5EF4-FFF2-40B4-BE49-F238E27FC236}">
                <a16:creationId xmlns:a16="http://schemas.microsoft.com/office/drawing/2014/main" id="{EA85BE91-5D89-4020-AF28-B2692481270B}"/>
              </a:ext>
            </a:extLst>
          </p:cNvPr>
          <p:cNvSpPr>
            <a:spLocks xmlns:a="http://schemas.openxmlformats.org/drawingml/2006/main" noGrp="1"/>
          </p:cNvSpPr>
          <p:nvPr/>
        </p:nvSpPr>
        <p:spPr>
          <a:xfrm xmlns:a="http://schemas.openxmlformats.org/drawingml/2006/main">
            <a:off x="6076950" y="4286250"/>
            <a:ext cx="9525" cy="140017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DD9353E-4678-4B64-AB0D-8601CCDD10F9}"/>
              </a:ext>
            </a:extLst>
          </p:cNvPr>
          <p:cNvSpPr>
            <a:spLocks xmlns:a="http://schemas.openxmlformats.org/drawingml/2006/main" noGrp="1"/>
          </p:cNvSpPr>
          <p:nvPr/>
        </p:nvSpPr>
        <p:spPr>
          <a:xfrm xmlns:a="http://schemas.openxmlformats.org/drawingml/2006/main">
            <a:off x="6486525" y="43148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F1B86D"/>
                </a:solidFill>
                <a:latin typeface="Arial"/>
                <a:ea typeface="Arial"/>
                <a:cs typeface="Arial"/>
              </a:defRPr>
            </a:pPr>
            <a:r>
              <a:rPr sz="1200" b="1">
                <a:solidFill>
                  <a:srgbClr val="F1B86D"/>
                </a:solidFill>
                <a:latin typeface="Arial"/>
                <a:ea typeface="Arial"/>
                <a:cs typeface="Arial"/>
              </a:rPr>
              <a:t>WHAT THESE CHECKS DO NOT PROVE</a:t>
            </a:r>
          </a:p>
        </p:txBody>
      </p:sp>
      <p:sp>
        <p:nvSpPr>
          <p:cNvPr id="17" name="">
            <a:extLst xmlns:a="http://schemas.openxmlformats.org/drawingml/2006/main">
              <a:ext uri="{FF2B5EF4-FFF2-40B4-BE49-F238E27FC236}">
                <a16:creationId xmlns:a16="http://schemas.microsoft.com/office/drawing/2014/main" id="{DE137ADA-F506-40AA-AD2C-A746CF97A857}"/>
              </a:ext>
            </a:extLst>
          </p:cNvPr>
          <p:cNvSpPr>
            <a:spLocks xmlns:a="http://schemas.openxmlformats.org/drawingml/2006/main" noGrp="1"/>
          </p:cNvSpPr>
          <p:nvPr/>
        </p:nvSpPr>
        <p:spPr>
          <a:xfrm xmlns:a="http://schemas.openxmlformats.org/drawingml/2006/main">
            <a:off x="6486525" y="4676775"/>
            <a:ext cx="4762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ACBBC4"/>
                </a:solidFill>
                <a:latin typeface="Arial"/>
                <a:ea typeface="Arial"/>
                <a:cs typeface="Arial"/>
              </a:defRPr>
            </a:pPr>
            <a:r>
              <a:rPr sz="1575" b="0">
                <a:solidFill>
                  <a:srgbClr val="ACBBC4"/>
                </a:solidFill>
                <a:latin typeface="Arial"/>
                <a:ea typeface="Arial"/>
                <a:cs typeface="Arial"/>
              </a:rPr>
              <a:t>They do not establish plate accuracy, uninterrupted Sentinel access, 15-minute dual-camera AI stability or capacity across thousands of cameras.</a:t>
            </a:r>
          </a:p>
        </p:txBody>
      </p:sp>
      <p:sp>
        <p:nvSpPr>
          <p:cNvPr id="18" name="">
            <a:extLst xmlns:a="http://schemas.openxmlformats.org/drawingml/2006/main">
              <a:ext uri="{FF2B5EF4-FFF2-40B4-BE49-F238E27FC236}">
                <a16:creationId xmlns:a16="http://schemas.microsoft.com/office/drawing/2014/main" id="{2384FFB9-EBC0-439C-BF0F-EB6A6ACC64FA}"/>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95A9556-EAE0-4C72-BFEA-A8E9490F21DB}"/>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20" name="">
            <a:extLst xmlns:a="http://schemas.openxmlformats.org/drawingml/2006/main">
              <a:ext uri="{FF2B5EF4-FFF2-40B4-BE49-F238E27FC236}">
                <a16:creationId xmlns:a16="http://schemas.microsoft.com/office/drawing/2014/main" id="{7B5F6CA6-B3B0-41FC-B3E9-FB499D8D0AF4}"/>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09</a:t>
            </a:r>
          </a:p>
        </p:txBody>
      </p:sp>
    </p:spTree>
    <p:extLst>
      <p:ext uri="{BB962C8B-B14F-4D97-AF65-F5344CB8AC3E}">
        <p14:creationId xmlns:p14="http://schemas.microsoft.com/office/powerpoint/2010/main" val="288976734"/>
      </p:ext>
    </p:extLst>
  </p:cSld>
</p:sld>
</file>

<file path=ppt/slides/slide10.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536105F-9A64-4ED8-84FF-DB93161D8463}"/>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17BAAE95-801E-426E-9DA7-8D70F24328B7}"/>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Live plate-recognition results</a:t>
            </a:r>
          </a:p>
        </p:txBody>
      </p:sp>
      <p:sp>
        <p:nvSpPr>
          <p:cNvPr id="3" name="">
            <a:extLst xmlns:a="http://schemas.openxmlformats.org/drawingml/2006/main">
              <a:ext uri="{FF2B5EF4-FFF2-40B4-BE49-F238E27FC236}">
                <a16:creationId xmlns:a16="http://schemas.microsoft.com/office/drawing/2014/main" id="{8DADD3C7-790F-4640-A962-FC28FEB008EB}"/>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A three-minute run per camera produced OCR evidence, but no model-accepted plate identifiers.</a:t>
            </a:r>
          </a:p>
        </p:txBody>
      </p:sp>
      <p:graphicFrame>
        <p:nvGraphicFramePr>
          <p:cNvPr id="14" name=""/>
          <p:cNvGraphicFramePr/>
          <p:nvPr/>
        </p:nvGraphicFramePr>
        <p:xfrm>
          <a:off xmlns:a="http://schemas.openxmlformats.org/drawingml/2006/main" x="666750" y="2133600"/>
          <a:ext xmlns:a="http://schemas.openxmlformats.org/drawingml/2006/main" cx="10839450" cy="2324100"/>
        </p:xfrm>
        <a:graphic xmlns:a="http://schemas.openxmlformats.org/drawingml/2006/main">
          <a:graphicData uri="http://schemas.openxmlformats.org/drawingml/2006/table">
            <a:tbl>
              <a:tblPr firstRow="1" bandRow="0"/>
              <a:tblGrid>
                <a:gridCol w="2167890"/>
                <a:gridCol w="2167890"/>
                <a:gridCol w="2167890"/>
                <a:gridCol w="2167890"/>
                <a:gridCol w="2167890"/>
              </a:tblGrid>
              <a:tr h="457200">
                <a:tc>
                  <a:txBody>
                    <a:bodyPr wrap="square" lIns="76200" tIns="57150" rIns="76200" bIns="57150">
                      <a:normAutofit/>
                    </a:bodyPr>
                    <a:lstStyle/>
                    <a:p>
                      <a:r>
                        <a:rPr sz="1425" b="1">
                          <a:solidFill>
                            <a:srgbClr val="4BD2C0"/>
                          </a:solidFill>
                          <a:latin typeface="Arial"/>
                          <a:ea typeface="Arial"/>
                          <a:cs typeface="Arial"/>
                        </a:rPr>
                        <a:t>Camera</a:t>
                      </a:r>
                    </a:p>
                  </a:txBody>
                  <a:tcPr marL="91440" marR="91440" marT="45720" marB="45720" anchor="ctr">
                    <a:solidFill>
                      <a:srgbClr val="172937"/>
                    </a:solidFill>
                  </a:tcPr>
                </a:tc>
                <a:tc>
                  <a:txBody>
                    <a:bodyPr wrap="square" lIns="76200" tIns="57150" rIns="76200" bIns="57150">
                      <a:normAutofit/>
                    </a:bodyPr>
                    <a:lstStyle/>
                    <a:p>
                      <a:r>
                        <a:rPr sz="1425" b="1">
                          <a:solidFill>
                            <a:srgbClr val="4BD2C0"/>
                          </a:solidFill>
                          <a:latin typeface="Arial"/>
                          <a:ea typeface="Arial"/>
                          <a:cs typeface="Arial"/>
                        </a:rPr>
                        <a:t>Frames analysed</a:t>
                      </a:r>
                    </a:p>
                  </a:txBody>
                  <a:tcPr marL="91440" marR="91440" marT="45720" marB="45720" anchor="ctr">
                    <a:solidFill>
                      <a:srgbClr val="172937"/>
                    </a:solidFill>
                  </a:tcPr>
                </a:tc>
                <a:tc>
                  <a:txBody>
                    <a:bodyPr wrap="square" lIns="76200" tIns="57150" rIns="76200" bIns="57150">
                      <a:normAutofit/>
                    </a:bodyPr>
                    <a:lstStyle/>
                    <a:p>
                      <a:r>
                        <a:rPr sz="1425" b="1">
                          <a:solidFill>
                            <a:srgbClr val="4BD2C0"/>
                          </a:solidFill>
                          <a:latin typeface="Arial"/>
                          <a:ea typeface="Arial"/>
                          <a:cs typeface="Arial"/>
                        </a:rPr>
                        <a:t>Plate crops</a:t>
                      </a:r>
                    </a:p>
                  </a:txBody>
                  <a:tcPr marL="91440" marR="91440" marT="45720" marB="45720" anchor="ctr">
                    <a:solidFill>
                      <a:srgbClr val="172937"/>
                    </a:solidFill>
                  </a:tcPr>
                </a:tc>
                <a:tc>
                  <a:txBody>
                    <a:bodyPr wrap="square" lIns="76200" tIns="57150" rIns="76200" bIns="57150">
                      <a:normAutofit/>
                    </a:bodyPr>
                    <a:lstStyle/>
                    <a:p>
                      <a:r>
                        <a:rPr sz="1425" b="1">
                          <a:solidFill>
                            <a:srgbClr val="4BD2C0"/>
                          </a:solidFill>
                          <a:latin typeface="Arial"/>
                          <a:ea typeface="Arial"/>
                          <a:cs typeface="Arial"/>
                        </a:rPr>
                        <a:t>Candidate windows</a:t>
                      </a:r>
                    </a:p>
                  </a:txBody>
                  <a:tcPr marL="91440" marR="91440" marT="45720" marB="45720" anchor="ctr">
                    <a:solidFill>
                      <a:srgbClr val="172937"/>
                    </a:solidFill>
                  </a:tcPr>
                </a:tc>
                <a:tc>
                  <a:txBody>
                    <a:bodyPr wrap="square" lIns="76200" tIns="57150" rIns="76200" bIns="57150">
                      <a:normAutofit/>
                    </a:bodyPr>
                    <a:lstStyle/>
                    <a:p>
                      <a:r>
                        <a:rPr sz="1425" b="1">
                          <a:solidFill>
                            <a:srgbClr val="4BD2C0"/>
                          </a:solidFill>
                          <a:latin typeface="Arial"/>
                          <a:ea typeface="Arial"/>
                          <a:cs typeface="Arial"/>
                        </a:rPr>
                        <a:t>Accepted IDs</a:t>
                      </a:r>
                    </a:p>
                  </a:txBody>
                  <a:tcPr marL="91440" marR="91440" marT="45720" marB="45720" anchor="ctr">
                    <a:solidFill>
                      <a:srgbClr val="172937"/>
                    </a:solidFill>
                  </a:tcPr>
                </a:tc>
              </a:tr>
              <a:tr h="933450">
                <a:tc>
                  <a:txBody>
                    <a:bodyPr wrap="square" lIns="76200" tIns="57150" rIns="76200" bIns="57150">
                      <a:normAutofit/>
                    </a:bodyPr>
                    <a:lstStyle/>
                    <a:p>
                      <a:r>
                        <a:rPr sz="1350" b="0">
                          <a:solidFill>
                            <a:srgbClr val="F3F5F6"/>
                          </a:solidFill>
                          <a:latin typeface="Arial"/>
                          <a:ea typeface="Arial"/>
                          <a:cs typeface="Arial"/>
                        </a:rPr>
                        <a:t>CAM17</a:t>
                      </a:r>
                    </a:p>
                  </a:txBody>
                  <a:tcPr marL="91440" marR="91440" marT="45720" marB="45720" anchor="ctr">
                    <a:solidFill>
                      <a:srgbClr val="101E2B"/>
                    </a:solidFill>
                  </a:tcPr>
                </a:tc>
                <a:tc>
                  <a:txBody>
                    <a:bodyPr wrap="square" lIns="76200" tIns="57150" rIns="76200" bIns="57150">
                      <a:normAutofit/>
                    </a:bodyPr>
                    <a:lstStyle/>
                    <a:p>
                      <a:r>
                        <a:rPr sz="1350" b="0">
                          <a:solidFill>
                            <a:srgbClr val="F3F5F6"/>
                          </a:solidFill>
                          <a:latin typeface="Arial"/>
                          <a:ea typeface="Arial"/>
                          <a:cs typeface="Arial"/>
                        </a:rPr>
                        <a:t>69</a:t>
                      </a:r>
                    </a:p>
                  </a:txBody>
                  <a:tcPr marL="91440" marR="91440" marT="45720" marB="45720" anchor="ctr">
                    <a:solidFill>
                      <a:srgbClr val="101E2B"/>
                    </a:solidFill>
                  </a:tcPr>
                </a:tc>
                <a:tc>
                  <a:txBody>
                    <a:bodyPr wrap="square" lIns="76200" tIns="57150" rIns="76200" bIns="57150">
                      <a:normAutofit/>
                    </a:bodyPr>
                    <a:lstStyle/>
                    <a:p>
                      <a:r>
                        <a:rPr sz="1350" b="0">
                          <a:solidFill>
                            <a:srgbClr val="F3F5F6"/>
                          </a:solidFill>
                          <a:latin typeface="Arial"/>
                          <a:ea typeface="Arial"/>
                          <a:cs typeface="Arial"/>
                        </a:rPr>
                        <a:t>33</a:t>
                      </a:r>
                    </a:p>
                  </a:txBody>
                  <a:tcPr marL="91440" marR="91440" marT="45720" marB="45720" anchor="ctr">
                    <a:solidFill>
                      <a:srgbClr val="101E2B"/>
                    </a:solidFill>
                  </a:tcPr>
                </a:tc>
                <a:tc>
                  <a:txBody>
                    <a:bodyPr wrap="square" lIns="76200" tIns="57150" rIns="76200" bIns="57150">
                      <a:normAutofit/>
                    </a:bodyPr>
                    <a:lstStyle/>
                    <a:p>
                      <a:r>
                        <a:rPr sz="1350" b="0">
                          <a:solidFill>
                            <a:srgbClr val="F3F5F6"/>
                          </a:solidFill>
                          <a:latin typeface="Arial"/>
                          <a:ea typeface="Arial"/>
                          <a:cs typeface="Arial"/>
                        </a:rPr>
                        <a:t>10</a:t>
                      </a:r>
                    </a:p>
                  </a:txBody>
                  <a:tcPr marL="91440" marR="91440" marT="45720" marB="45720" anchor="ctr">
                    <a:solidFill>
                      <a:srgbClr val="101E2B"/>
                    </a:solidFill>
                  </a:tcPr>
                </a:tc>
                <a:tc>
                  <a:txBody>
                    <a:bodyPr wrap="square" lIns="76200" tIns="57150" rIns="76200" bIns="57150">
                      <a:normAutofit/>
                    </a:bodyPr>
                    <a:lstStyle/>
                    <a:p>
                      <a:r>
                        <a:rPr sz="1350" b="0">
                          <a:solidFill>
                            <a:srgbClr val="F3F5F6"/>
                          </a:solidFill>
                          <a:latin typeface="Arial"/>
                          <a:ea typeface="Arial"/>
                          <a:cs typeface="Arial"/>
                        </a:rPr>
                        <a:t>0</a:t>
                      </a:r>
                    </a:p>
                  </a:txBody>
                  <a:tcPr marL="91440" marR="91440" marT="45720" marB="45720" anchor="ctr">
                    <a:solidFill>
                      <a:srgbClr val="101E2B"/>
                    </a:solidFill>
                  </a:tcPr>
                </a:tc>
              </a:tr>
              <a:tr h="933450">
                <a:tc>
                  <a:txBody>
                    <a:bodyPr wrap="square" lIns="76200" tIns="57150" rIns="76200" bIns="57150">
                      <a:normAutofit/>
                    </a:bodyPr>
                    <a:lstStyle/>
                    <a:p>
                      <a:r>
                        <a:rPr sz="1350" b="0">
                          <a:solidFill>
                            <a:srgbClr val="F3F5F6"/>
                          </a:solidFill>
                          <a:latin typeface="Arial"/>
                          <a:ea typeface="Arial"/>
                          <a:cs typeface="Arial"/>
                        </a:rPr>
                        <a:t>CAM01</a:t>
                      </a:r>
                    </a:p>
                  </a:txBody>
                  <a:tcPr marL="91440" marR="91440" marT="45720" marB="45720" anchor="ctr">
                    <a:solidFill>
                      <a:srgbClr val="0D1925"/>
                    </a:solidFill>
                  </a:tcPr>
                </a:tc>
                <a:tc>
                  <a:txBody>
                    <a:bodyPr wrap="square" lIns="76200" tIns="57150" rIns="76200" bIns="57150">
                      <a:normAutofit/>
                    </a:bodyPr>
                    <a:lstStyle/>
                    <a:p>
                      <a:r>
                        <a:rPr sz="1350" b="0">
                          <a:solidFill>
                            <a:srgbClr val="F3F5F6"/>
                          </a:solidFill>
                          <a:latin typeface="Arial"/>
                          <a:ea typeface="Arial"/>
                          <a:cs typeface="Arial"/>
                        </a:rPr>
                        <a:t>281</a:t>
                      </a:r>
                    </a:p>
                  </a:txBody>
                  <a:tcPr marL="91440" marR="91440" marT="45720" marB="45720" anchor="ctr">
                    <a:solidFill>
                      <a:srgbClr val="0D1925"/>
                    </a:solidFill>
                  </a:tcPr>
                </a:tc>
                <a:tc>
                  <a:txBody>
                    <a:bodyPr wrap="square" lIns="76200" tIns="57150" rIns="76200" bIns="57150">
                      <a:normAutofit/>
                    </a:bodyPr>
                    <a:lstStyle/>
                    <a:p>
                      <a:r>
                        <a:rPr sz="1350" b="0">
                          <a:solidFill>
                            <a:srgbClr val="F3F5F6"/>
                          </a:solidFill>
                          <a:latin typeface="Arial"/>
                          <a:ea typeface="Arial"/>
                          <a:cs typeface="Arial"/>
                        </a:rPr>
                        <a:t>17</a:t>
                      </a:r>
                    </a:p>
                  </a:txBody>
                  <a:tcPr marL="91440" marR="91440" marT="45720" marB="45720" anchor="ctr">
                    <a:solidFill>
                      <a:srgbClr val="0D1925"/>
                    </a:solidFill>
                  </a:tcPr>
                </a:tc>
                <a:tc>
                  <a:txBody>
                    <a:bodyPr wrap="square" lIns="76200" tIns="57150" rIns="76200" bIns="57150">
                      <a:normAutofit/>
                    </a:bodyPr>
                    <a:lstStyle/>
                    <a:p>
                      <a:r>
                        <a:rPr sz="1350" b="0">
                          <a:solidFill>
                            <a:srgbClr val="F3F5F6"/>
                          </a:solidFill>
                          <a:latin typeface="Arial"/>
                          <a:ea typeface="Arial"/>
                          <a:cs typeface="Arial"/>
                        </a:rPr>
                        <a:t>0</a:t>
                      </a:r>
                    </a:p>
                  </a:txBody>
                  <a:tcPr marL="91440" marR="91440" marT="45720" marB="45720" anchor="ctr">
                    <a:solidFill>
                      <a:srgbClr val="0D1925"/>
                    </a:solidFill>
                  </a:tcPr>
                </a:tc>
                <a:tc>
                  <a:txBody>
                    <a:bodyPr wrap="square" lIns="76200" tIns="57150" rIns="76200" bIns="57150">
                      <a:normAutofit/>
                    </a:bodyPr>
                    <a:lstStyle/>
                    <a:p>
                      <a:r>
                        <a:rPr sz="1350" b="0">
                          <a:solidFill>
                            <a:srgbClr val="F3F5F6"/>
                          </a:solidFill>
                          <a:latin typeface="Arial"/>
                          <a:ea typeface="Arial"/>
                          <a:cs typeface="Arial"/>
                        </a:rPr>
                        <a:t>0</a:t>
                      </a:r>
                    </a:p>
                  </a:txBody>
                  <a:tcPr marL="91440" marR="91440" marT="45720" marB="45720" anchor="ctr">
                    <a:solidFill>
                      <a:srgbClr val="0D1925"/>
                    </a:solidFill>
                  </a:tcPr>
                </a:tc>
              </a:tr>
            </a:tbl>
          </a:graphicData>
        </a:graphic>
      </p:graphicFrame>
      <p:sp>
        <p:nvSpPr>
          <p:cNvPr id="5" name="">
            <a:extLst xmlns:a="http://schemas.openxmlformats.org/drawingml/2006/main">
              <a:ext uri="{FF2B5EF4-FFF2-40B4-BE49-F238E27FC236}">
                <a16:creationId xmlns:a16="http://schemas.microsoft.com/office/drawing/2014/main" id="{24E18CE1-FE4E-4C74-9DCE-C974AC96B37D}"/>
              </a:ext>
            </a:extLst>
          </p:cNvPr>
          <p:cNvSpPr>
            <a:spLocks xmlns:a="http://schemas.openxmlformats.org/drawingml/2006/main" noGrp="1"/>
          </p:cNvSpPr>
          <p:nvPr/>
        </p:nvSpPr>
        <p:spPr>
          <a:xfrm xmlns:a="http://schemas.openxmlformats.org/drawingml/2006/main">
            <a:off x="685800" y="4752975"/>
            <a:ext cx="10715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a:solidFill>
                  <a:srgbClr val="78909B"/>
                </a:solidFill>
                <a:latin typeface="Arial"/>
                <a:ea typeface="Arial"/>
                <a:cs typeface="Arial"/>
              </a:defRPr>
            </a:pPr>
            <a:r>
              <a:rPr sz="1350" b="0">
                <a:solidFill>
                  <a:srgbClr val="78909B"/>
                </a:solidFill>
                <a:latin typeface="Arial"/>
                <a:ea typeface="Arial"/>
                <a:cs typeface="Arial"/>
              </a:rPr>
              <a:t>General diagnostic profile, one sequential 180-second sample per camera.</a:t>
            </a:r>
          </a:p>
        </p:txBody>
      </p:sp>
      <p:sp>
        <p:nvSpPr>
          <p:cNvPr id="6" name="">
            <a:extLst xmlns:a="http://schemas.openxmlformats.org/drawingml/2006/main">
              <a:ext uri="{FF2B5EF4-FFF2-40B4-BE49-F238E27FC236}">
                <a16:creationId xmlns:a16="http://schemas.microsoft.com/office/drawing/2014/main" id="{B2C8C6CE-C651-4118-971E-821C00AD5529}"/>
              </a:ext>
            </a:extLst>
          </p:cNvPr>
          <p:cNvSpPr>
            <a:spLocks xmlns:a="http://schemas.openxmlformats.org/drawingml/2006/main" noGrp="1"/>
          </p:cNvSpPr>
          <p:nvPr/>
        </p:nvSpPr>
        <p:spPr>
          <a:xfrm xmlns:a="http://schemas.openxmlformats.org/drawingml/2006/main">
            <a:off x="666750" y="5257800"/>
            <a:ext cx="1083945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CB2880-1A80-43F9-9758-5725E228BB07}"/>
              </a:ext>
            </a:extLst>
          </p:cNvPr>
          <p:cNvSpPr>
            <a:spLocks xmlns:a="http://schemas.openxmlformats.org/drawingml/2006/main" noGrp="1"/>
          </p:cNvSpPr>
          <p:nvPr/>
        </p:nvSpPr>
        <p:spPr>
          <a:xfrm xmlns:a="http://schemas.openxmlformats.org/drawingml/2006/main">
            <a:off x="685800" y="5467350"/>
            <a:ext cx="10706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1">
                <a:solidFill>
                  <a:srgbClr val="F1B86D"/>
                </a:solidFill>
                <a:latin typeface="Arial"/>
                <a:ea typeface="Arial"/>
                <a:cs typeface="Arial"/>
              </a:defRPr>
            </a:pPr>
            <a:r>
              <a:rPr sz="1425" b="1">
                <a:solidFill>
                  <a:srgbClr val="F1B86D"/>
                </a:solidFill>
                <a:latin typeface="Arial"/>
                <a:ea typeface="Arial"/>
                <a:cs typeface="Arial"/>
              </a:rPr>
              <a:t>An adapted plate detector produced 3 crops on CAM17 and 51 on CAM01 in a separate run, yet still produced no complete candidate windows or accepted IDs.</a:t>
            </a:r>
          </a:p>
        </p:txBody>
      </p:sp>
      <p:sp>
        <p:nvSpPr>
          <p:cNvPr id="8" name="">
            <a:extLst xmlns:a="http://schemas.openxmlformats.org/drawingml/2006/main">
              <a:ext uri="{FF2B5EF4-FFF2-40B4-BE49-F238E27FC236}">
                <a16:creationId xmlns:a16="http://schemas.microsoft.com/office/drawing/2014/main" id="{205AFBA7-1F93-4BF3-BFC7-46812B49EF88}"/>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A525F61-2D55-410E-B67F-8380CAB46806}"/>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10" name="">
            <a:extLst xmlns:a="http://schemas.openxmlformats.org/drawingml/2006/main">
              <a:ext uri="{FF2B5EF4-FFF2-40B4-BE49-F238E27FC236}">
                <a16:creationId xmlns:a16="http://schemas.microsoft.com/office/drawing/2014/main" id="{95182ACB-C1B9-4D42-9F28-16B9CAACEC1A}"/>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10</a:t>
            </a:r>
          </a:p>
        </p:txBody>
      </p:sp>
    </p:spTree>
    <p:extLst>
      <p:ext uri="{BB962C8B-B14F-4D97-AF65-F5344CB8AC3E}">
        <p14:creationId xmlns:p14="http://schemas.microsoft.com/office/powerpoint/2010/main" val="1675315888"/>
      </p:ext>
    </p:extLst>
  </p:cSld>
</p:sld>
</file>

<file path=ppt/slides/slide11.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B405C39-BBC8-4036-8A61-6595FBB1C26E}"/>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SYSTEM DESIGN</a:t>
            </a:r>
          </a:p>
        </p:txBody>
      </p:sp>
      <p:sp>
        <p:nvSpPr>
          <p:cNvPr id="2" name="">
            <a:extLst xmlns:a="http://schemas.openxmlformats.org/drawingml/2006/main">
              <a:ext uri="{FF2B5EF4-FFF2-40B4-BE49-F238E27FC236}">
                <a16:creationId xmlns:a16="http://schemas.microsoft.com/office/drawing/2014/main" id="{EBCDAD7C-2A2C-480A-9090-02147EB26293}"/>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Privacy and operational safeguards</a:t>
            </a:r>
          </a:p>
        </p:txBody>
      </p:sp>
      <p:sp>
        <p:nvSpPr>
          <p:cNvPr id="3" name="">
            <a:extLst xmlns:a="http://schemas.openxmlformats.org/drawingml/2006/main">
              <a:ext uri="{FF2B5EF4-FFF2-40B4-BE49-F238E27FC236}">
                <a16:creationId xmlns:a16="http://schemas.microsoft.com/office/drawing/2014/main" id="{A6AFDB43-3ED5-4B07-A8C7-9F9002A4667A}"/>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The prototype limits retained evidence and separates candidate review from alert delivery.</a:t>
            </a:r>
          </a:p>
        </p:txBody>
      </p:sp>
      <p:sp>
        <p:nvSpPr>
          <p:cNvPr id="4" name="">
            <a:extLst xmlns:a="http://schemas.openxmlformats.org/drawingml/2006/main">
              <a:ext uri="{FF2B5EF4-FFF2-40B4-BE49-F238E27FC236}">
                <a16:creationId xmlns:a16="http://schemas.microsoft.com/office/drawing/2014/main" id="{66F4D23D-3AD4-4974-B5CF-151B3D4E6BD3}"/>
              </a:ext>
            </a:extLst>
          </p:cNvPr>
          <p:cNvSpPr>
            <a:spLocks xmlns:a="http://schemas.openxmlformats.org/drawingml/2006/main" noGrp="1"/>
          </p:cNvSpPr>
          <p:nvPr/>
        </p:nvSpPr>
        <p:spPr>
          <a:xfrm xmlns:a="http://schemas.openxmlformats.org/drawingml/2006/main">
            <a:off x="666750" y="214312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4BD2C0"/>
                </a:solidFill>
                <a:latin typeface="Arial"/>
                <a:ea typeface="Arial"/>
                <a:cs typeface="Arial"/>
              </a:defRPr>
            </a:pPr>
            <a:r>
              <a:rPr sz="1200" b="1">
                <a:solidFill>
                  <a:srgbClr val="4BD2C0"/>
                </a:solidFill>
                <a:latin typeface="Arial"/>
                <a:ea typeface="Arial"/>
                <a:cs typeface="Arial"/>
              </a:rPr>
              <a:t>DATA HANDLING</a:t>
            </a:r>
          </a:p>
        </p:txBody>
      </p:sp>
      <p:sp>
        <p:nvSpPr>
          <p:cNvPr id="5" name="">
            <a:extLst xmlns:a="http://schemas.openxmlformats.org/drawingml/2006/main">
              <a:ext uri="{FF2B5EF4-FFF2-40B4-BE49-F238E27FC236}">
                <a16:creationId xmlns:a16="http://schemas.microsoft.com/office/drawing/2014/main" id="{8CCDB705-C99C-48D8-A2B3-A14CDF7033CF}"/>
              </a:ext>
            </a:extLst>
          </p:cNvPr>
          <p:cNvSpPr>
            <a:spLocks xmlns:a="http://schemas.openxmlformats.org/drawingml/2006/main" noGrp="1"/>
          </p:cNvSpPr>
          <p:nvPr/>
        </p:nvSpPr>
        <p:spPr>
          <a:xfrm xmlns:a="http://schemas.openxmlformats.org/drawingml/2006/main">
            <a:off x="666750" y="264795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1A6C38E-E47B-4AE6-B4B8-B0D3909CD059}"/>
              </a:ext>
            </a:extLst>
          </p:cNvPr>
          <p:cNvSpPr>
            <a:spLocks xmlns:a="http://schemas.openxmlformats.org/drawingml/2006/main" noGrp="1"/>
          </p:cNvSpPr>
          <p:nvPr/>
        </p:nvSpPr>
        <p:spPr>
          <a:xfrm xmlns:a="http://schemas.openxmlformats.org/drawingml/2006/main">
            <a:off x="857250" y="2571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Live frames stay in memory</a:t>
            </a:r>
          </a:p>
        </p:txBody>
      </p:sp>
      <p:sp>
        <p:nvSpPr>
          <p:cNvPr id="7" name="">
            <a:extLst xmlns:a="http://schemas.openxmlformats.org/drawingml/2006/main">
              <a:ext uri="{FF2B5EF4-FFF2-40B4-BE49-F238E27FC236}">
                <a16:creationId xmlns:a16="http://schemas.microsoft.com/office/drawing/2014/main" id="{D4A00C76-62AB-4197-AFBF-49082744AF58}"/>
              </a:ext>
            </a:extLst>
          </p:cNvPr>
          <p:cNvSpPr>
            <a:spLocks xmlns:a="http://schemas.openxmlformats.org/drawingml/2006/main" noGrp="1"/>
          </p:cNvSpPr>
          <p:nvPr/>
        </p:nvSpPr>
        <p:spPr>
          <a:xfrm xmlns:a="http://schemas.openxmlformats.org/drawingml/2006/main">
            <a:off x="857250" y="2857500"/>
            <a:ext cx="472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Recording and footage download remain disabled.</a:t>
            </a:r>
          </a:p>
        </p:txBody>
      </p:sp>
      <p:sp>
        <p:nvSpPr>
          <p:cNvPr id="8" name="">
            <a:extLst xmlns:a="http://schemas.openxmlformats.org/drawingml/2006/main">
              <a:ext uri="{FF2B5EF4-FFF2-40B4-BE49-F238E27FC236}">
                <a16:creationId xmlns:a16="http://schemas.microsoft.com/office/drawing/2014/main" id="{0913E705-3C06-4049-A965-AA996F047558}"/>
              </a:ext>
            </a:extLst>
          </p:cNvPr>
          <p:cNvSpPr>
            <a:spLocks xmlns:a="http://schemas.openxmlformats.org/drawingml/2006/main" noGrp="1"/>
          </p:cNvSpPr>
          <p:nvPr/>
        </p:nvSpPr>
        <p:spPr>
          <a:xfrm xmlns:a="http://schemas.openxmlformats.org/drawingml/2006/main">
            <a:off x="666750" y="355282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7D33E90-AC35-4B20-9744-65F50E590BCB}"/>
              </a:ext>
            </a:extLst>
          </p:cNvPr>
          <p:cNvSpPr>
            <a:spLocks xmlns:a="http://schemas.openxmlformats.org/drawingml/2006/main" noGrp="1"/>
          </p:cNvSpPr>
          <p:nvPr/>
        </p:nvSpPr>
        <p:spPr>
          <a:xfrm xmlns:a="http://schemas.openxmlformats.org/drawingml/2006/main">
            <a:off x="857250" y="34766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Central events carry metadata</a:t>
            </a:r>
          </a:p>
        </p:txBody>
      </p:sp>
      <p:sp>
        <p:nvSpPr>
          <p:cNvPr id="10" name="">
            <a:extLst xmlns:a="http://schemas.openxmlformats.org/drawingml/2006/main">
              <a:ext uri="{FF2B5EF4-FFF2-40B4-BE49-F238E27FC236}">
                <a16:creationId xmlns:a16="http://schemas.microsoft.com/office/drawing/2014/main" id="{FDA1D68D-C880-4DB9-A4CD-FE401EA8A198}"/>
              </a:ext>
            </a:extLst>
          </p:cNvPr>
          <p:cNvSpPr>
            <a:spLocks xmlns:a="http://schemas.openxmlformats.org/drawingml/2006/main" noGrp="1"/>
          </p:cNvSpPr>
          <p:nvPr/>
        </p:nvSpPr>
        <p:spPr>
          <a:xfrm xmlns:a="http://schemas.openxmlformats.org/drawingml/2006/main">
            <a:off x="857250" y="3762375"/>
            <a:ext cx="472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Masked plate text, keyed identifiers, camera, time and model information.</a:t>
            </a:r>
          </a:p>
        </p:txBody>
      </p:sp>
      <p:sp>
        <p:nvSpPr>
          <p:cNvPr id="11" name="">
            <a:extLst xmlns:a="http://schemas.openxmlformats.org/drawingml/2006/main">
              <a:ext uri="{FF2B5EF4-FFF2-40B4-BE49-F238E27FC236}">
                <a16:creationId xmlns:a16="http://schemas.microsoft.com/office/drawing/2014/main" id="{0A99C6AD-A1C3-406F-926E-28C6E222F766}"/>
              </a:ext>
            </a:extLst>
          </p:cNvPr>
          <p:cNvSpPr>
            <a:spLocks xmlns:a="http://schemas.openxmlformats.org/drawingml/2006/main" noGrp="1"/>
          </p:cNvSpPr>
          <p:nvPr/>
        </p:nvSpPr>
        <p:spPr>
          <a:xfrm xmlns:a="http://schemas.openxmlformats.org/drawingml/2006/main">
            <a:off x="666750" y="448627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C6B4B72-6F9A-4A6E-9C4D-A57564303329}"/>
              </a:ext>
            </a:extLst>
          </p:cNvPr>
          <p:cNvSpPr>
            <a:spLocks xmlns:a="http://schemas.openxmlformats.org/drawingml/2006/main" noGrp="1"/>
          </p:cNvSpPr>
          <p:nvPr/>
        </p:nvSpPr>
        <p:spPr>
          <a:xfrm xmlns:a="http://schemas.openxmlformats.org/drawingml/2006/main">
            <a:off x="857250" y="44100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Durable retry queue</a:t>
            </a:r>
          </a:p>
        </p:txBody>
      </p:sp>
      <p:sp>
        <p:nvSpPr>
          <p:cNvPr id="13" name="">
            <a:extLst xmlns:a="http://schemas.openxmlformats.org/drawingml/2006/main">
              <a:ext uri="{FF2B5EF4-FFF2-40B4-BE49-F238E27FC236}">
                <a16:creationId xmlns:a16="http://schemas.microsoft.com/office/drawing/2014/main" id="{899A8A1D-40A5-4595-BBF9-362E742F3E2E}"/>
              </a:ext>
            </a:extLst>
          </p:cNvPr>
          <p:cNvSpPr>
            <a:spLocks xmlns:a="http://schemas.openxmlformats.org/drawingml/2006/main" noGrp="1"/>
          </p:cNvSpPr>
          <p:nvPr/>
        </p:nvSpPr>
        <p:spPr>
          <a:xfrm xmlns:a="http://schemas.openxmlformats.org/drawingml/2006/main">
            <a:off x="857250" y="4695825"/>
            <a:ext cx="472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SQLite preserves unsent edge events and event IDs prevent duplicate central records.</a:t>
            </a:r>
          </a:p>
        </p:txBody>
      </p:sp>
      <p:sp>
        <p:nvSpPr>
          <p:cNvPr id="14" name="">
            <a:extLst xmlns:a="http://schemas.openxmlformats.org/drawingml/2006/main">
              <a:ext uri="{FF2B5EF4-FFF2-40B4-BE49-F238E27FC236}">
                <a16:creationId xmlns:a16="http://schemas.microsoft.com/office/drawing/2014/main" id="{580F4A42-B75F-4676-9F5C-996AADCFDB26}"/>
              </a:ext>
            </a:extLst>
          </p:cNvPr>
          <p:cNvSpPr>
            <a:spLocks xmlns:a="http://schemas.openxmlformats.org/drawingml/2006/main" noGrp="1"/>
          </p:cNvSpPr>
          <p:nvPr/>
        </p:nvSpPr>
        <p:spPr>
          <a:xfrm xmlns:a="http://schemas.openxmlformats.org/drawingml/2006/main">
            <a:off x="6057900" y="2152650"/>
            <a:ext cx="9525" cy="3276600"/>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60C371B-3FFA-470D-B213-BF98278B28E8}"/>
              </a:ext>
            </a:extLst>
          </p:cNvPr>
          <p:cNvSpPr>
            <a:spLocks xmlns:a="http://schemas.openxmlformats.org/drawingml/2006/main" noGrp="1"/>
          </p:cNvSpPr>
          <p:nvPr/>
        </p:nvSpPr>
        <p:spPr>
          <a:xfrm xmlns:a="http://schemas.openxmlformats.org/drawingml/2006/main">
            <a:off x="6496050" y="214312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4BD2C0"/>
                </a:solidFill>
                <a:latin typeface="Arial"/>
                <a:ea typeface="Arial"/>
                <a:cs typeface="Arial"/>
              </a:defRPr>
            </a:pPr>
            <a:r>
              <a:rPr sz="1200" b="1">
                <a:solidFill>
                  <a:srgbClr val="4BD2C0"/>
                </a:solidFill>
                <a:latin typeface="Arial"/>
                <a:ea typeface="Arial"/>
                <a:cs typeface="Arial"/>
              </a:rPr>
              <a:t>ACCESS AND ALERT BOUNDARIES</a:t>
            </a:r>
          </a:p>
        </p:txBody>
      </p:sp>
      <p:sp>
        <p:nvSpPr>
          <p:cNvPr id="16" name="">
            <a:extLst xmlns:a="http://schemas.openxmlformats.org/drawingml/2006/main">
              <a:ext uri="{FF2B5EF4-FFF2-40B4-BE49-F238E27FC236}">
                <a16:creationId xmlns:a16="http://schemas.microsoft.com/office/drawing/2014/main" id="{1DAFCF2D-63B7-4767-9E2F-25CF1D7119F2}"/>
              </a:ext>
            </a:extLst>
          </p:cNvPr>
          <p:cNvSpPr>
            <a:spLocks xmlns:a="http://schemas.openxmlformats.org/drawingml/2006/main" noGrp="1"/>
          </p:cNvSpPr>
          <p:nvPr/>
        </p:nvSpPr>
        <p:spPr>
          <a:xfrm xmlns:a="http://schemas.openxmlformats.org/drawingml/2006/main">
            <a:off x="6496050" y="264795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5178D2E-6B97-45AE-ACB8-7CD97EAABADE}"/>
              </a:ext>
            </a:extLst>
          </p:cNvPr>
          <p:cNvSpPr>
            <a:spLocks xmlns:a="http://schemas.openxmlformats.org/drawingml/2006/main" noGrp="1"/>
          </p:cNvSpPr>
          <p:nvPr/>
        </p:nvSpPr>
        <p:spPr>
          <a:xfrm xmlns:a="http://schemas.openxmlformats.org/drawingml/2006/main">
            <a:off x="6686550" y="25717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Protected operator functions</a:t>
            </a:r>
          </a:p>
        </p:txBody>
      </p:sp>
      <p:sp>
        <p:nvSpPr>
          <p:cNvPr id="18" name="">
            <a:extLst xmlns:a="http://schemas.openxmlformats.org/drawingml/2006/main">
              <a:ext uri="{FF2B5EF4-FFF2-40B4-BE49-F238E27FC236}">
                <a16:creationId xmlns:a16="http://schemas.microsoft.com/office/drawing/2014/main" id="{17FE4357-5D5E-412E-8C1F-A47650ADA83E}"/>
              </a:ext>
            </a:extLst>
          </p:cNvPr>
          <p:cNvSpPr>
            <a:spLocks xmlns:a="http://schemas.openxmlformats.org/drawingml/2006/main" noGrp="1"/>
          </p:cNvSpPr>
          <p:nvPr/>
        </p:nvSpPr>
        <p:spPr>
          <a:xfrm xmlns:a="http://schemas.openxmlformats.org/drawingml/2006/main">
            <a:off x="6686550" y="2857500"/>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Operator key gates the camera catalogue, previews and local recognition tools.</a:t>
            </a:r>
          </a:p>
        </p:txBody>
      </p:sp>
      <p:sp>
        <p:nvSpPr>
          <p:cNvPr id="19" name="">
            <a:extLst xmlns:a="http://schemas.openxmlformats.org/drawingml/2006/main">
              <a:ext uri="{FF2B5EF4-FFF2-40B4-BE49-F238E27FC236}">
                <a16:creationId xmlns:a16="http://schemas.microsoft.com/office/drawing/2014/main" id="{ED7FB43B-1694-42ED-87D3-99681B78EEEF}"/>
              </a:ext>
            </a:extLst>
          </p:cNvPr>
          <p:cNvSpPr>
            <a:spLocks xmlns:a="http://schemas.openxmlformats.org/drawingml/2006/main" noGrp="1"/>
          </p:cNvSpPr>
          <p:nvPr/>
        </p:nvSpPr>
        <p:spPr>
          <a:xfrm xmlns:a="http://schemas.openxmlformats.org/drawingml/2006/main">
            <a:off x="6496050" y="362902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976011E-F3F6-4A0A-8399-78159B9A5B19}"/>
              </a:ext>
            </a:extLst>
          </p:cNvPr>
          <p:cNvSpPr>
            <a:spLocks xmlns:a="http://schemas.openxmlformats.org/drawingml/2006/main" noGrp="1"/>
          </p:cNvSpPr>
          <p:nvPr/>
        </p:nvSpPr>
        <p:spPr>
          <a:xfrm xmlns:a="http://schemas.openxmlformats.org/drawingml/2006/main">
            <a:off x="6686550" y="355282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Candidates stay diagnostic</a:t>
            </a:r>
          </a:p>
        </p:txBody>
      </p:sp>
      <p:sp>
        <p:nvSpPr>
          <p:cNvPr id="21" name="">
            <a:extLst xmlns:a="http://schemas.openxmlformats.org/drawingml/2006/main">
              <a:ext uri="{FF2B5EF4-FFF2-40B4-BE49-F238E27FC236}">
                <a16:creationId xmlns:a16="http://schemas.microsoft.com/office/drawing/2014/main" id="{0D50B13C-CC04-44C1-8F4D-0CB7C3C20FD9}"/>
              </a:ext>
            </a:extLst>
          </p:cNvPr>
          <p:cNvSpPr>
            <a:spLocks xmlns:a="http://schemas.openxmlformats.org/drawingml/2006/main" noGrp="1"/>
          </p:cNvSpPr>
          <p:nvPr/>
        </p:nvSpPr>
        <p:spPr>
          <a:xfrm xmlns:a="http://schemas.openxmlformats.org/drawingml/2006/main">
            <a:off x="6686550" y="383857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Partial or uncertain readings do not create watchlist alerts.</a:t>
            </a:r>
          </a:p>
        </p:txBody>
      </p:sp>
      <p:sp>
        <p:nvSpPr>
          <p:cNvPr id="22" name="">
            <a:extLst xmlns:a="http://schemas.openxmlformats.org/drawingml/2006/main">
              <a:ext uri="{FF2B5EF4-FFF2-40B4-BE49-F238E27FC236}">
                <a16:creationId xmlns:a16="http://schemas.microsoft.com/office/drawing/2014/main" id="{EDC45F95-F035-4D4A-8CF9-1DB7146FB5B0}"/>
              </a:ext>
            </a:extLst>
          </p:cNvPr>
          <p:cNvSpPr>
            <a:spLocks xmlns:a="http://schemas.openxmlformats.org/drawingml/2006/main" noGrp="1"/>
          </p:cNvSpPr>
          <p:nvPr/>
        </p:nvSpPr>
        <p:spPr>
          <a:xfrm xmlns:a="http://schemas.openxmlformats.org/drawingml/2006/main">
            <a:off x="6496050" y="461962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CBE00F7-325E-4B59-8ECA-97847C11EC17}"/>
              </a:ext>
            </a:extLst>
          </p:cNvPr>
          <p:cNvSpPr>
            <a:spLocks xmlns:a="http://schemas.openxmlformats.org/drawingml/2006/main" noGrp="1"/>
          </p:cNvSpPr>
          <p:nvPr/>
        </p:nvSpPr>
        <p:spPr>
          <a:xfrm xmlns:a="http://schemas.openxmlformats.org/drawingml/2006/main">
            <a:off x="6686550" y="454342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Synthetic events stay labelled</a:t>
            </a:r>
          </a:p>
        </p:txBody>
      </p:sp>
      <p:sp>
        <p:nvSpPr>
          <p:cNvPr id="24" name="">
            <a:extLst xmlns:a="http://schemas.openxmlformats.org/drawingml/2006/main">
              <a:ext uri="{FF2B5EF4-FFF2-40B4-BE49-F238E27FC236}">
                <a16:creationId xmlns:a16="http://schemas.microsoft.com/office/drawing/2014/main" id="{8D3E6B32-E8F3-4898-9040-FF42CD5664FF}"/>
              </a:ext>
            </a:extLst>
          </p:cNvPr>
          <p:cNvSpPr>
            <a:spLocks xmlns:a="http://schemas.openxmlformats.org/drawingml/2006/main" noGrp="1"/>
          </p:cNvSpPr>
          <p:nvPr/>
        </p:nvSpPr>
        <p:spPr>
          <a:xfrm xmlns:a="http://schemas.openxmlformats.org/drawingml/2006/main">
            <a:off x="6686550" y="482917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Offline mode demonstrates operations without claiming a live recognition.</a:t>
            </a:r>
          </a:p>
        </p:txBody>
      </p:sp>
      <p:sp>
        <p:nvSpPr>
          <p:cNvPr id="25" name="">
            <a:extLst xmlns:a="http://schemas.openxmlformats.org/drawingml/2006/main">
              <a:ext uri="{FF2B5EF4-FFF2-40B4-BE49-F238E27FC236}">
                <a16:creationId xmlns:a16="http://schemas.microsoft.com/office/drawing/2014/main" id="{36029B67-926A-45F0-87E0-39C0589416D9}"/>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CE7FACD-B029-4347-B86F-FD1F64FFC18A}"/>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27" name="">
            <a:extLst xmlns:a="http://schemas.openxmlformats.org/drawingml/2006/main">
              <a:ext uri="{FF2B5EF4-FFF2-40B4-BE49-F238E27FC236}">
                <a16:creationId xmlns:a16="http://schemas.microsoft.com/office/drawing/2014/main" id="{2F6C2D32-7DBF-454F-8758-B5BFF582F38D}"/>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11</a:t>
            </a:r>
          </a:p>
        </p:txBody>
      </p:sp>
    </p:spTree>
    <p:extLst>
      <p:ext uri="{BB962C8B-B14F-4D97-AF65-F5344CB8AC3E}">
        <p14:creationId xmlns:p14="http://schemas.microsoft.com/office/powerpoint/2010/main" val="746588604"/>
      </p:ext>
    </p:extLst>
  </p:cSld>
</p:sld>
</file>

<file path=ppt/slides/slide12.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BE30468-92D9-4AD9-8C1F-69E1CFACFDEC}"/>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ASSESSMENT</a:t>
            </a:r>
          </a:p>
        </p:txBody>
      </p:sp>
      <p:sp>
        <p:nvSpPr>
          <p:cNvPr id="2" name="">
            <a:extLst xmlns:a="http://schemas.openxmlformats.org/drawingml/2006/main">
              <a:ext uri="{FF2B5EF4-FFF2-40B4-BE49-F238E27FC236}">
                <a16:creationId xmlns:a16="http://schemas.microsoft.com/office/drawing/2014/main" id="{2E23F3B1-8A83-4CD8-BD75-8AB4A012A3A4}"/>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Expected benefits and current limits</a:t>
            </a:r>
          </a:p>
        </p:txBody>
      </p:sp>
      <p:sp>
        <p:nvSpPr>
          <p:cNvPr id="3" name="">
            <a:extLst xmlns:a="http://schemas.openxmlformats.org/drawingml/2006/main">
              <a:ext uri="{FF2B5EF4-FFF2-40B4-BE49-F238E27FC236}">
                <a16:creationId xmlns:a16="http://schemas.microsoft.com/office/drawing/2014/main" id="{29669BCE-C817-4914-9216-DAFE61CC49E5}"/>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The prototype demonstrates an operator workflow. Its recognition value still needs proof.</a:t>
            </a:r>
          </a:p>
        </p:txBody>
      </p:sp>
      <p:sp>
        <p:nvSpPr>
          <p:cNvPr id="4" name="">
            <a:extLst xmlns:a="http://schemas.openxmlformats.org/drawingml/2006/main">
              <a:ext uri="{FF2B5EF4-FFF2-40B4-BE49-F238E27FC236}">
                <a16:creationId xmlns:a16="http://schemas.microsoft.com/office/drawing/2014/main" id="{096E6F4E-D792-4453-BA2B-6D6B9C4952AB}"/>
              </a:ext>
            </a:extLst>
          </p:cNvPr>
          <p:cNvSpPr>
            <a:spLocks xmlns:a="http://schemas.openxmlformats.org/drawingml/2006/main" noGrp="1"/>
          </p:cNvSpPr>
          <p:nvPr/>
        </p:nvSpPr>
        <p:spPr>
          <a:xfrm xmlns:a="http://schemas.openxmlformats.org/drawingml/2006/main">
            <a:off x="685800" y="2190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4BD2C0"/>
                </a:solidFill>
                <a:latin typeface="Arial"/>
                <a:ea typeface="Arial"/>
                <a:cs typeface="Arial"/>
              </a:defRPr>
            </a:pPr>
            <a:r>
              <a:rPr sz="1200" b="1">
                <a:solidFill>
                  <a:srgbClr val="4BD2C0"/>
                </a:solidFill>
                <a:latin typeface="Arial"/>
                <a:ea typeface="Arial"/>
                <a:cs typeface="Arial"/>
              </a:rPr>
              <a:t>EXPECTED OPERATIONAL VALUE</a:t>
            </a:r>
          </a:p>
        </p:txBody>
      </p:sp>
      <p:sp>
        <p:nvSpPr>
          <p:cNvPr id="5" name="">
            <a:extLst xmlns:a="http://schemas.openxmlformats.org/drawingml/2006/main">
              <a:ext uri="{FF2B5EF4-FFF2-40B4-BE49-F238E27FC236}">
                <a16:creationId xmlns:a16="http://schemas.microsoft.com/office/drawing/2014/main" id="{E5F8DCC9-A4E0-4F95-B394-076EBE99BC52}"/>
              </a:ext>
            </a:extLst>
          </p:cNvPr>
          <p:cNvSpPr>
            <a:spLocks xmlns:a="http://schemas.openxmlformats.org/drawingml/2006/main" noGrp="1"/>
          </p:cNvSpPr>
          <p:nvPr/>
        </p:nvSpPr>
        <p:spPr>
          <a:xfrm xmlns:a="http://schemas.openxmlformats.org/drawingml/2006/main">
            <a:off x="685800" y="271462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2C91ABC-1316-4902-9627-C0AF839B5C44}"/>
              </a:ext>
            </a:extLst>
          </p:cNvPr>
          <p:cNvSpPr>
            <a:spLocks xmlns:a="http://schemas.openxmlformats.org/drawingml/2006/main" noGrp="1"/>
          </p:cNvSpPr>
          <p:nvPr/>
        </p:nvSpPr>
        <p:spPr>
          <a:xfrm xmlns:a="http://schemas.openxmlformats.org/drawingml/2006/main">
            <a:off x="876300" y="26384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Less continuous manual watching</a:t>
            </a:r>
          </a:p>
        </p:txBody>
      </p:sp>
      <p:sp>
        <p:nvSpPr>
          <p:cNvPr id="7" name="">
            <a:extLst xmlns:a="http://schemas.openxmlformats.org/drawingml/2006/main">
              <a:ext uri="{FF2B5EF4-FFF2-40B4-BE49-F238E27FC236}">
                <a16:creationId xmlns:a16="http://schemas.microsoft.com/office/drawing/2014/main" id="{E59C4A0B-7D32-4CDE-A0BA-15A6BAD49DC2}"/>
              </a:ext>
            </a:extLst>
          </p:cNvPr>
          <p:cNvSpPr>
            <a:spLocks xmlns:a="http://schemas.openxmlformats.org/drawingml/2006/main" noGrp="1"/>
          </p:cNvSpPr>
          <p:nvPr/>
        </p:nvSpPr>
        <p:spPr>
          <a:xfrm xmlns:a="http://schemas.openxmlformats.org/drawingml/2006/main">
            <a:off x="876300" y="2924175"/>
            <a:ext cx="472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Surface possible vehicle and watchlist events for operator review.</a:t>
            </a:r>
          </a:p>
        </p:txBody>
      </p:sp>
      <p:sp>
        <p:nvSpPr>
          <p:cNvPr id="8" name="">
            <a:extLst xmlns:a="http://schemas.openxmlformats.org/drawingml/2006/main">
              <a:ext uri="{FF2B5EF4-FFF2-40B4-BE49-F238E27FC236}">
                <a16:creationId xmlns:a16="http://schemas.microsoft.com/office/drawing/2014/main" id="{410C7626-F323-4FA8-AAE1-A15BFB11620A}"/>
              </a:ext>
            </a:extLst>
          </p:cNvPr>
          <p:cNvSpPr>
            <a:spLocks xmlns:a="http://schemas.openxmlformats.org/drawingml/2006/main" noGrp="1"/>
          </p:cNvSpPr>
          <p:nvPr/>
        </p:nvSpPr>
        <p:spPr>
          <a:xfrm xmlns:a="http://schemas.openxmlformats.org/drawingml/2006/main">
            <a:off x="685800" y="368617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7EC9C3-B063-409A-9C85-6B023601E8A6}"/>
              </a:ext>
            </a:extLst>
          </p:cNvPr>
          <p:cNvSpPr>
            <a:spLocks xmlns:a="http://schemas.openxmlformats.org/drawingml/2006/main" noGrp="1"/>
          </p:cNvSpPr>
          <p:nvPr/>
        </p:nvSpPr>
        <p:spPr>
          <a:xfrm xmlns:a="http://schemas.openxmlformats.org/drawingml/2006/main">
            <a:off x="876300" y="36099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A clearer investigation path</a:t>
            </a:r>
          </a:p>
        </p:txBody>
      </p:sp>
      <p:sp>
        <p:nvSpPr>
          <p:cNvPr id="10" name="">
            <a:extLst xmlns:a="http://schemas.openxmlformats.org/drawingml/2006/main">
              <a:ext uri="{FF2B5EF4-FFF2-40B4-BE49-F238E27FC236}">
                <a16:creationId xmlns:a16="http://schemas.microsoft.com/office/drawing/2014/main" id="{093F7FCD-B08D-4DC9-A5D1-250AE515E07E}"/>
              </a:ext>
            </a:extLst>
          </p:cNvPr>
          <p:cNvSpPr>
            <a:spLocks xmlns:a="http://schemas.openxmlformats.org/drawingml/2006/main" noGrp="1"/>
          </p:cNvSpPr>
          <p:nvPr/>
        </p:nvSpPr>
        <p:spPr>
          <a:xfrm xmlns:a="http://schemas.openxmlformats.org/drawingml/2006/main">
            <a:off x="876300" y="3895725"/>
            <a:ext cx="472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Camera context, ordered sightings, alert history and recorded operator actions.</a:t>
            </a:r>
          </a:p>
        </p:txBody>
      </p:sp>
      <p:sp>
        <p:nvSpPr>
          <p:cNvPr id="11" name="">
            <a:extLst xmlns:a="http://schemas.openxmlformats.org/drawingml/2006/main">
              <a:ext uri="{FF2B5EF4-FFF2-40B4-BE49-F238E27FC236}">
                <a16:creationId xmlns:a16="http://schemas.microsoft.com/office/drawing/2014/main" id="{B1E5B5D8-F2B1-4CCA-B74F-7A8C1A17446F}"/>
              </a:ext>
            </a:extLst>
          </p:cNvPr>
          <p:cNvSpPr>
            <a:spLocks xmlns:a="http://schemas.openxmlformats.org/drawingml/2006/main" noGrp="1"/>
          </p:cNvSpPr>
          <p:nvPr/>
        </p:nvSpPr>
        <p:spPr>
          <a:xfrm xmlns:a="http://schemas.openxmlformats.org/drawingml/2006/main">
            <a:off x="685800" y="465772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8C6F8C1-85C8-43C9-9CB5-2FA8AA3DE8FF}"/>
              </a:ext>
            </a:extLst>
          </p:cNvPr>
          <p:cNvSpPr>
            <a:spLocks xmlns:a="http://schemas.openxmlformats.org/drawingml/2006/main" noGrp="1"/>
          </p:cNvSpPr>
          <p:nvPr/>
        </p:nvSpPr>
        <p:spPr>
          <a:xfrm xmlns:a="http://schemas.openxmlformats.org/drawingml/2006/main">
            <a:off x="876300" y="45815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Smaller central video burden</a:t>
            </a:r>
          </a:p>
        </p:txBody>
      </p:sp>
      <p:sp>
        <p:nvSpPr>
          <p:cNvPr id="13" name="">
            <a:extLst xmlns:a="http://schemas.openxmlformats.org/drawingml/2006/main">
              <a:ext uri="{FF2B5EF4-FFF2-40B4-BE49-F238E27FC236}">
                <a16:creationId xmlns:a16="http://schemas.microsoft.com/office/drawing/2014/main" id="{B08416E4-1D69-4FB0-BCD8-A8C5DF9B75E5}"/>
              </a:ext>
            </a:extLst>
          </p:cNvPr>
          <p:cNvSpPr>
            <a:spLocks xmlns:a="http://schemas.openxmlformats.org/drawingml/2006/main" noGrp="1"/>
          </p:cNvSpPr>
          <p:nvPr/>
        </p:nvSpPr>
        <p:spPr>
          <a:xfrm xmlns:a="http://schemas.openxmlformats.org/drawingml/2006/main">
            <a:off x="876300" y="4867275"/>
            <a:ext cx="472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Analyse selected frames locally and send event metadata.</a:t>
            </a:r>
          </a:p>
        </p:txBody>
      </p:sp>
      <p:sp>
        <p:nvSpPr>
          <p:cNvPr id="14" name="">
            <a:extLst xmlns:a="http://schemas.openxmlformats.org/drawingml/2006/main">
              <a:ext uri="{FF2B5EF4-FFF2-40B4-BE49-F238E27FC236}">
                <a16:creationId xmlns:a16="http://schemas.microsoft.com/office/drawing/2014/main" id="{8CFEFF42-B59C-4A46-B02A-F682D83D9681}"/>
              </a:ext>
            </a:extLst>
          </p:cNvPr>
          <p:cNvSpPr>
            <a:spLocks xmlns:a="http://schemas.openxmlformats.org/drawingml/2006/main" noGrp="1"/>
          </p:cNvSpPr>
          <p:nvPr/>
        </p:nvSpPr>
        <p:spPr>
          <a:xfrm xmlns:a="http://schemas.openxmlformats.org/drawingml/2006/main">
            <a:off x="6076950" y="2209800"/>
            <a:ext cx="9525" cy="3314700"/>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7DEFEF7-38B9-4806-842D-F41E73595B48}"/>
              </a:ext>
            </a:extLst>
          </p:cNvPr>
          <p:cNvSpPr>
            <a:spLocks xmlns:a="http://schemas.openxmlformats.org/drawingml/2006/main" noGrp="1"/>
          </p:cNvSpPr>
          <p:nvPr/>
        </p:nvSpPr>
        <p:spPr>
          <a:xfrm xmlns:a="http://schemas.openxmlformats.org/drawingml/2006/main">
            <a:off x="6515100" y="2190750"/>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F1B86D"/>
                </a:solidFill>
                <a:latin typeface="Arial"/>
                <a:ea typeface="Arial"/>
                <a:cs typeface="Arial"/>
              </a:defRPr>
            </a:pPr>
            <a:r>
              <a:rPr sz="1200" b="1">
                <a:solidFill>
                  <a:srgbClr val="F1B86D"/>
                </a:solidFill>
                <a:latin typeface="Arial"/>
                <a:ea typeface="Arial"/>
                <a:cs typeface="Arial"/>
              </a:rPr>
              <a:t>LIMITS SHOWN BY CURRENT TESTS</a:t>
            </a:r>
          </a:p>
        </p:txBody>
      </p:sp>
      <p:sp>
        <p:nvSpPr>
          <p:cNvPr id="16" name="">
            <a:extLst xmlns:a="http://schemas.openxmlformats.org/drawingml/2006/main">
              <a:ext uri="{FF2B5EF4-FFF2-40B4-BE49-F238E27FC236}">
                <a16:creationId xmlns:a16="http://schemas.microsoft.com/office/drawing/2014/main" id="{7DB2412B-A53B-4625-B681-B5565337D775}"/>
              </a:ext>
            </a:extLst>
          </p:cNvPr>
          <p:cNvSpPr>
            <a:spLocks xmlns:a="http://schemas.openxmlformats.org/drawingml/2006/main" noGrp="1"/>
          </p:cNvSpPr>
          <p:nvPr/>
        </p:nvSpPr>
        <p:spPr>
          <a:xfrm xmlns:a="http://schemas.openxmlformats.org/drawingml/2006/main">
            <a:off x="6515100" y="271462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3ED9786-685E-42CA-95F8-A34AE932E918}"/>
              </a:ext>
            </a:extLst>
          </p:cNvPr>
          <p:cNvSpPr>
            <a:spLocks xmlns:a="http://schemas.openxmlformats.org/drawingml/2006/main" noGrp="1"/>
          </p:cNvSpPr>
          <p:nvPr/>
        </p:nvSpPr>
        <p:spPr>
          <a:xfrm xmlns:a="http://schemas.openxmlformats.org/drawingml/2006/main">
            <a:off x="6705600" y="263842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No accepted live plate yet</a:t>
            </a:r>
          </a:p>
        </p:txBody>
      </p:sp>
      <p:sp>
        <p:nvSpPr>
          <p:cNvPr id="18" name="">
            <a:extLst xmlns:a="http://schemas.openxmlformats.org/drawingml/2006/main">
              <a:ext uri="{FF2B5EF4-FFF2-40B4-BE49-F238E27FC236}">
                <a16:creationId xmlns:a16="http://schemas.microsoft.com/office/drawing/2014/main" id="{AEAC23F6-1C5E-4DB4-B0DF-ECC892973037}"/>
              </a:ext>
            </a:extLst>
          </p:cNvPr>
          <p:cNvSpPr>
            <a:spLocks xmlns:a="http://schemas.openxmlformats.org/drawingml/2006/main" noGrp="1"/>
          </p:cNvSpPr>
          <p:nvPr/>
        </p:nvSpPr>
        <p:spPr>
          <a:xfrm xmlns:a="http://schemas.openxmlformats.org/drawingml/2006/main">
            <a:off x="6705600" y="292417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Recent CAM17/CAM01 samples produced zero accepted identifiers.</a:t>
            </a:r>
          </a:p>
        </p:txBody>
      </p:sp>
      <p:sp>
        <p:nvSpPr>
          <p:cNvPr id="19" name="">
            <a:extLst xmlns:a="http://schemas.openxmlformats.org/drawingml/2006/main">
              <a:ext uri="{FF2B5EF4-FFF2-40B4-BE49-F238E27FC236}">
                <a16:creationId xmlns:a16="http://schemas.microsoft.com/office/drawing/2014/main" id="{28A942C2-119F-4180-AF8B-B61199304CCD}"/>
              </a:ext>
            </a:extLst>
          </p:cNvPr>
          <p:cNvSpPr>
            <a:spLocks xmlns:a="http://schemas.openxmlformats.org/drawingml/2006/main" noGrp="1"/>
          </p:cNvSpPr>
          <p:nvPr/>
        </p:nvSpPr>
        <p:spPr>
          <a:xfrm xmlns:a="http://schemas.openxmlformats.org/drawingml/2006/main">
            <a:off x="6515100" y="368617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98BB62F-DDE1-4112-8457-778D03955B52}"/>
              </a:ext>
            </a:extLst>
          </p:cNvPr>
          <p:cNvSpPr>
            <a:spLocks xmlns:a="http://schemas.openxmlformats.org/drawingml/2006/main" noGrp="1"/>
          </p:cNvSpPr>
          <p:nvPr/>
        </p:nvSpPr>
        <p:spPr>
          <a:xfrm xmlns:a="http://schemas.openxmlformats.org/drawingml/2006/main">
            <a:off x="6705600" y="360997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Confidence is not calibrated</a:t>
            </a:r>
          </a:p>
        </p:txBody>
      </p:sp>
      <p:sp>
        <p:nvSpPr>
          <p:cNvPr id="21" name="">
            <a:extLst xmlns:a="http://schemas.openxmlformats.org/drawingml/2006/main">
              <a:ext uri="{FF2B5EF4-FFF2-40B4-BE49-F238E27FC236}">
                <a16:creationId xmlns:a16="http://schemas.microsoft.com/office/drawing/2014/main" id="{9FB7AC8E-8AD7-4559-9085-D61C86A1C473}"/>
              </a:ext>
            </a:extLst>
          </p:cNvPr>
          <p:cNvSpPr>
            <a:spLocks xmlns:a="http://schemas.openxmlformats.org/drawingml/2006/main" noGrp="1"/>
          </p:cNvSpPr>
          <p:nvPr/>
        </p:nvSpPr>
        <p:spPr>
          <a:xfrm xmlns:a="http://schemas.openxmlformats.org/drawingml/2006/main">
            <a:off x="6705600" y="389572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Scores and ranked candidates are not probabilities of a correct registration.</a:t>
            </a:r>
          </a:p>
        </p:txBody>
      </p:sp>
      <p:sp>
        <p:nvSpPr>
          <p:cNvPr id="22" name="">
            <a:extLst xmlns:a="http://schemas.openxmlformats.org/drawingml/2006/main">
              <a:ext uri="{FF2B5EF4-FFF2-40B4-BE49-F238E27FC236}">
                <a16:creationId xmlns:a16="http://schemas.microsoft.com/office/drawing/2014/main" id="{8E8BD692-AC86-4E4E-A455-648489B2D1B4}"/>
              </a:ext>
            </a:extLst>
          </p:cNvPr>
          <p:cNvSpPr>
            <a:spLocks xmlns:a="http://schemas.openxmlformats.org/drawingml/2006/main" noGrp="1"/>
          </p:cNvSpPr>
          <p:nvPr/>
        </p:nvSpPr>
        <p:spPr>
          <a:xfrm xmlns:a="http://schemas.openxmlformats.org/drawingml/2006/main">
            <a:off x="6515100" y="465772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F528481-28BF-4D39-9A9D-330109A214EC}"/>
              </a:ext>
            </a:extLst>
          </p:cNvPr>
          <p:cNvSpPr>
            <a:spLocks xmlns:a="http://schemas.openxmlformats.org/drawingml/2006/main" noGrp="1"/>
          </p:cNvSpPr>
          <p:nvPr/>
        </p:nvSpPr>
        <p:spPr>
          <a:xfrm xmlns:a="http://schemas.openxmlformats.org/drawingml/2006/main">
            <a:off x="6705600" y="458152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Scale remains untested</a:t>
            </a:r>
          </a:p>
        </p:txBody>
      </p:sp>
      <p:sp>
        <p:nvSpPr>
          <p:cNvPr id="24" name="">
            <a:extLst xmlns:a="http://schemas.openxmlformats.org/drawingml/2006/main">
              <a:ext uri="{FF2B5EF4-FFF2-40B4-BE49-F238E27FC236}">
                <a16:creationId xmlns:a16="http://schemas.microsoft.com/office/drawing/2014/main" id="{AE2F22DE-4A86-4772-A4C8-59D1D6AC3192}"/>
              </a:ext>
            </a:extLst>
          </p:cNvPr>
          <p:cNvSpPr>
            <a:spLocks xmlns:a="http://schemas.openxmlformats.org/drawingml/2006/main" noGrp="1"/>
          </p:cNvSpPr>
          <p:nvPr/>
        </p:nvSpPr>
        <p:spPr>
          <a:xfrm xmlns:a="http://schemas.openxmlformats.org/drawingml/2006/main">
            <a:off x="6705600" y="486727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Two local feeds do not establish regional or 80,000-camera capacity.</a:t>
            </a:r>
          </a:p>
        </p:txBody>
      </p:sp>
      <p:sp>
        <p:nvSpPr>
          <p:cNvPr id="25" name="">
            <a:extLst xmlns:a="http://schemas.openxmlformats.org/drawingml/2006/main">
              <a:ext uri="{FF2B5EF4-FFF2-40B4-BE49-F238E27FC236}">
                <a16:creationId xmlns:a16="http://schemas.microsoft.com/office/drawing/2014/main" id="{71623FC6-B7AD-4CAB-8893-F3254ADCB773}"/>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DB0AC34-0396-4F12-93BB-4C2ED64A2E5E}"/>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27" name="">
            <a:extLst xmlns:a="http://schemas.openxmlformats.org/drawingml/2006/main">
              <a:ext uri="{FF2B5EF4-FFF2-40B4-BE49-F238E27FC236}">
                <a16:creationId xmlns:a16="http://schemas.microsoft.com/office/drawing/2014/main" id="{701E7BF5-0899-4CD4-94D3-8B399F156C74}"/>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12</a:t>
            </a:r>
          </a:p>
        </p:txBody>
      </p:sp>
    </p:spTree>
    <p:extLst>
      <p:ext uri="{BB962C8B-B14F-4D97-AF65-F5344CB8AC3E}">
        <p14:creationId xmlns:p14="http://schemas.microsoft.com/office/powerpoint/2010/main" val="59665305"/>
      </p:ext>
    </p:extLst>
  </p:cSld>
</p:sld>
</file>

<file path=ppt/slides/slide13.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96BFBCA-C89B-48BB-BF9E-8693AF34893A}"/>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ROADMAP</a:t>
            </a:r>
          </a:p>
        </p:txBody>
      </p:sp>
      <p:sp>
        <p:nvSpPr>
          <p:cNvPr id="2" name="">
            <a:extLst xmlns:a="http://schemas.openxmlformats.org/drawingml/2006/main">
              <a:ext uri="{FF2B5EF4-FFF2-40B4-BE49-F238E27FC236}">
                <a16:creationId xmlns:a16="http://schemas.microsoft.com/office/drawing/2014/main" id="{1090F0E0-CCFE-41A4-8121-1C92B8805BA9}"/>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Future scope</a:t>
            </a:r>
          </a:p>
        </p:txBody>
      </p:sp>
      <p:sp>
        <p:nvSpPr>
          <p:cNvPr id="3" name="">
            <a:extLst xmlns:a="http://schemas.openxmlformats.org/drawingml/2006/main">
              <a:ext uri="{FF2B5EF4-FFF2-40B4-BE49-F238E27FC236}">
                <a16:creationId xmlns:a16="http://schemas.microsoft.com/office/drawing/2014/main" id="{1662606D-CBB7-4159-AA0B-CD5F17EA9051}"/>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The next gains depend on better labelled evidence, measured model changes and deployment testing.</a:t>
            </a:r>
          </a:p>
        </p:txBody>
      </p:sp>
      <p:sp>
        <p:nvSpPr>
          <p:cNvPr id="4" name="">
            <a:extLst xmlns:a="http://schemas.openxmlformats.org/drawingml/2006/main">
              <a:ext uri="{FF2B5EF4-FFF2-40B4-BE49-F238E27FC236}">
                <a16:creationId xmlns:a16="http://schemas.microsoft.com/office/drawing/2014/main" id="{3784EAD1-D738-4546-BA20-84A274708509}"/>
              </a:ext>
            </a:extLst>
          </p:cNvPr>
          <p:cNvSpPr>
            <a:spLocks xmlns:a="http://schemas.openxmlformats.org/drawingml/2006/main" noGrp="1"/>
          </p:cNvSpPr>
          <p:nvPr/>
        </p:nvSpPr>
        <p:spPr>
          <a:xfrm xmlns:a="http://schemas.openxmlformats.org/drawingml/2006/main">
            <a:off x="742950" y="21336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4BD2C0"/>
                </a:solidFill>
                <a:latin typeface="Arial"/>
                <a:ea typeface="Arial"/>
                <a:cs typeface="Arial"/>
              </a:defRPr>
            </a:pPr>
            <a:r>
              <a:rPr sz="1725" b="1">
                <a:solidFill>
                  <a:srgbClr val="4BD2C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24D9E67-4F8E-4399-81F7-F78C39B9E132}"/>
              </a:ext>
            </a:extLst>
          </p:cNvPr>
          <p:cNvSpPr>
            <a:spLocks xmlns:a="http://schemas.openxmlformats.org/drawingml/2006/main" noGrp="1"/>
          </p:cNvSpPr>
          <p:nvPr/>
        </p:nvSpPr>
        <p:spPr>
          <a:xfrm xmlns:a="http://schemas.openxmlformats.org/drawingml/2006/main">
            <a:off x="1438275" y="2133600"/>
            <a:ext cx="3190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3F5F6"/>
                </a:solidFill>
                <a:latin typeface="Arial"/>
                <a:ea typeface="Arial"/>
                <a:cs typeface="Arial"/>
              </a:defRPr>
            </a:pPr>
            <a:r>
              <a:rPr sz="1650" b="1">
                <a:solidFill>
                  <a:srgbClr val="F3F5F6"/>
                </a:solidFill>
                <a:latin typeface="Arial"/>
                <a:ea typeface="Arial"/>
                <a:cs typeface="Arial"/>
              </a:rPr>
              <a:t>Improve camera evidence</a:t>
            </a:r>
          </a:p>
        </p:txBody>
      </p:sp>
      <p:sp>
        <p:nvSpPr>
          <p:cNvPr id="6" name="">
            <a:extLst xmlns:a="http://schemas.openxmlformats.org/drawingml/2006/main">
              <a:ext uri="{FF2B5EF4-FFF2-40B4-BE49-F238E27FC236}">
                <a16:creationId xmlns:a16="http://schemas.microsoft.com/office/drawing/2014/main" id="{8318C196-44C9-4FE4-8E27-0951E99D0D37}"/>
              </a:ext>
            </a:extLst>
          </p:cNvPr>
          <p:cNvSpPr>
            <a:spLocks xmlns:a="http://schemas.openxmlformats.org/drawingml/2006/main" noGrp="1"/>
          </p:cNvSpPr>
          <p:nvPr/>
        </p:nvSpPr>
        <p:spPr>
          <a:xfrm xmlns:a="http://schemas.openxmlformats.org/drawingml/2006/main">
            <a:off x="4638675" y="2133600"/>
            <a:ext cx="67341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a:solidFill>
                  <a:srgbClr val="ACBBC4"/>
                </a:solidFill>
                <a:latin typeface="Arial"/>
                <a:ea typeface="Arial"/>
                <a:cs typeface="Arial"/>
              </a:defRPr>
            </a:pPr>
            <a:r>
              <a:rPr sz="1350" b="0">
                <a:solidFill>
                  <a:srgbClr val="ACBBC4"/>
                </a:solidFill>
                <a:latin typeface="Arial"/>
                <a:ea typeface="Arial"/>
                <a:cs typeface="Arial"/>
              </a:rPr>
              <a:t>Stabilise authorised access and choose feeds with sufficient plate pixels, angle and exposure.</a:t>
            </a:r>
          </a:p>
        </p:txBody>
      </p:sp>
      <p:sp>
        <p:nvSpPr>
          <p:cNvPr id="7" name="">
            <a:extLst xmlns:a="http://schemas.openxmlformats.org/drawingml/2006/main">
              <a:ext uri="{FF2B5EF4-FFF2-40B4-BE49-F238E27FC236}">
                <a16:creationId xmlns:a16="http://schemas.microsoft.com/office/drawing/2014/main" id="{3E8261B3-1483-4545-A388-34410ED1A81A}"/>
              </a:ext>
            </a:extLst>
          </p:cNvPr>
          <p:cNvSpPr>
            <a:spLocks xmlns:a="http://schemas.openxmlformats.org/drawingml/2006/main" noGrp="1"/>
          </p:cNvSpPr>
          <p:nvPr/>
        </p:nvSpPr>
        <p:spPr>
          <a:xfrm xmlns:a="http://schemas.openxmlformats.org/drawingml/2006/main">
            <a:off x="1428750" y="2752725"/>
            <a:ext cx="99441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CAF1BE-8F48-4569-8195-C17A8FB0CC08}"/>
              </a:ext>
            </a:extLst>
          </p:cNvPr>
          <p:cNvSpPr>
            <a:spLocks xmlns:a="http://schemas.openxmlformats.org/drawingml/2006/main" noGrp="1"/>
          </p:cNvSpPr>
          <p:nvPr/>
        </p:nvSpPr>
        <p:spPr>
          <a:xfrm xmlns:a="http://schemas.openxmlformats.org/drawingml/2006/main">
            <a:off x="742950" y="29337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4BD2C0"/>
                </a:solidFill>
                <a:latin typeface="Arial"/>
                <a:ea typeface="Arial"/>
                <a:cs typeface="Arial"/>
              </a:defRPr>
            </a:pPr>
            <a:r>
              <a:rPr sz="1725" b="1">
                <a:solidFill>
                  <a:srgbClr val="4BD2C0"/>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B6FDFF95-6F10-41B8-9D57-A853F20CE58F}"/>
              </a:ext>
            </a:extLst>
          </p:cNvPr>
          <p:cNvSpPr>
            <a:spLocks xmlns:a="http://schemas.openxmlformats.org/drawingml/2006/main" noGrp="1"/>
          </p:cNvSpPr>
          <p:nvPr/>
        </p:nvSpPr>
        <p:spPr>
          <a:xfrm xmlns:a="http://schemas.openxmlformats.org/drawingml/2006/main">
            <a:off x="1438275" y="2933700"/>
            <a:ext cx="3190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3F5F6"/>
                </a:solidFill>
                <a:latin typeface="Arial"/>
                <a:ea typeface="Arial"/>
                <a:cs typeface="Arial"/>
              </a:defRPr>
            </a:pPr>
            <a:r>
              <a:rPr sz="1650" b="1">
                <a:solidFill>
                  <a:srgbClr val="F3F5F6"/>
                </a:solidFill>
                <a:latin typeface="Arial"/>
                <a:ea typeface="Arial"/>
                <a:cs typeface="Arial"/>
              </a:rPr>
              <a:t>Build a verified Indian plate set</a:t>
            </a:r>
          </a:p>
        </p:txBody>
      </p:sp>
      <p:sp>
        <p:nvSpPr>
          <p:cNvPr id="10" name="">
            <a:extLst xmlns:a="http://schemas.openxmlformats.org/drawingml/2006/main">
              <a:ext uri="{FF2B5EF4-FFF2-40B4-BE49-F238E27FC236}">
                <a16:creationId xmlns:a16="http://schemas.microsoft.com/office/drawing/2014/main" id="{8AC4B5D9-1F46-4AB8-86CC-3B10663C93C7}"/>
              </a:ext>
            </a:extLst>
          </p:cNvPr>
          <p:cNvSpPr>
            <a:spLocks xmlns:a="http://schemas.openxmlformats.org/drawingml/2006/main" noGrp="1"/>
          </p:cNvSpPr>
          <p:nvPr/>
        </p:nvSpPr>
        <p:spPr>
          <a:xfrm xmlns:a="http://schemas.openxmlformats.org/drawingml/2006/main">
            <a:off x="4638675" y="2933700"/>
            <a:ext cx="67341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a:solidFill>
                  <a:srgbClr val="ACBBC4"/>
                </a:solidFill>
                <a:latin typeface="Arial"/>
                <a:ea typeface="Arial"/>
                <a:cs typeface="Arial"/>
              </a:defRPr>
            </a:pPr>
            <a:r>
              <a:rPr sz="1350" b="0">
                <a:solidFill>
                  <a:srgbClr val="ACBBC4"/>
                </a:solidFill>
                <a:latin typeface="Arial"/>
                <a:ea typeface="Arial"/>
                <a:cs typeface="Arial"/>
              </a:rPr>
              <a:t>Collect permitted images or video with plate boxes, exact transcripts, frame times and vehicle-level grouping.</a:t>
            </a:r>
          </a:p>
        </p:txBody>
      </p:sp>
      <p:sp>
        <p:nvSpPr>
          <p:cNvPr id="11" name="">
            <a:extLst xmlns:a="http://schemas.openxmlformats.org/drawingml/2006/main">
              <a:ext uri="{FF2B5EF4-FFF2-40B4-BE49-F238E27FC236}">
                <a16:creationId xmlns:a16="http://schemas.microsoft.com/office/drawing/2014/main" id="{909B0366-DEFC-44C4-9161-4DFF665990D0}"/>
              </a:ext>
            </a:extLst>
          </p:cNvPr>
          <p:cNvSpPr>
            <a:spLocks xmlns:a="http://schemas.openxmlformats.org/drawingml/2006/main" noGrp="1"/>
          </p:cNvSpPr>
          <p:nvPr/>
        </p:nvSpPr>
        <p:spPr>
          <a:xfrm xmlns:a="http://schemas.openxmlformats.org/drawingml/2006/main">
            <a:off x="1428750" y="3552825"/>
            <a:ext cx="99441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A6C3F50-E3E1-4D66-ACD6-0C4514D888B8}"/>
              </a:ext>
            </a:extLst>
          </p:cNvPr>
          <p:cNvSpPr>
            <a:spLocks xmlns:a="http://schemas.openxmlformats.org/drawingml/2006/main" noGrp="1"/>
          </p:cNvSpPr>
          <p:nvPr/>
        </p:nvSpPr>
        <p:spPr>
          <a:xfrm xmlns:a="http://schemas.openxmlformats.org/drawingml/2006/main">
            <a:off x="742950" y="37338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F1B86D"/>
                </a:solidFill>
                <a:latin typeface="Arial"/>
                <a:ea typeface="Arial"/>
                <a:cs typeface="Arial"/>
              </a:defRPr>
            </a:pPr>
            <a:r>
              <a:rPr sz="1725" b="1">
                <a:solidFill>
                  <a:srgbClr val="F1B86D"/>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11F17E31-F875-466B-AE9D-FA8753E3D2B7}"/>
              </a:ext>
            </a:extLst>
          </p:cNvPr>
          <p:cNvSpPr>
            <a:spLocks xmlns:a="http://schemas.openxmlformats.org/drawingml/2006/main" noGrp="1"/>
          </p:cNvSpPr>
          <p:nvPr/>
        </p:nvSpPr>
        <p:spPr>
          <a:xfrm xmlns:a="http://schemas.openxmlformats.org/drawingml/2006/main">
            <a:off x="1438275" y="3733800"/>
            <a:ext cx="3190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3F5F6"/>
                </a:solidFill>
                <a:latin typeface="Arial"/>
                <a:ea typeface="Arial"/>
                <a:cs typeface="Arial"/>
              </a:defRPr>
            </a:pPr>
            <a:r>
              <a:rPr sz="1650" b="1">
                <a:solidFill>
                  <a:srgbClr val="F3F5F6"/>
                </a:solidFill>
                <a:latin typeface="Arial"/>
                <a:ea typeface="Arial"/>
                <a:cs typeface="Arial"/>
              </a:rPr>
              <a:t>Tune against held-out data</a:t>
            </a:r>
          </a:p>
        </p:txBody>
      </p:sp>
      <p:sp>
        <p:nvSpPr>
          <p:cNvPr id="14" name="">
            <a:extLst xmlns:a="http://schemas.openxmlformats.org/drawingml/2006/main">
              <a:ext uri="{FF2B5EF4-FFF2-40B4-BE49-F238E27FC236}">
                <a16:creationId xmlns:a16="http://schemas.microsoft.com/office/drawing/2014/main" id="{D32BD92F-2197-448C-AC47-4CAA88D457DF}"/>
              </a:ext>
            </a:extLst>
          </p:cNvPr>
          <p:cNvSpPr>
            <a:spLocks xmlns:a="http://schemas.openxmlformats.org/drawingml/2006/main" noGrp="1"/>
          </p:cNvSpPr>
          <p:nvPr/>
        </p:nvSpPr>
        <p:spPr>
          <a:xfrm xmlns:a="http://schemas.openxmlformats.org/drawingml/2006/main">
            <a:off x="4638675" y="3733800"/>
            <a:ext cx="67341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a:solidFill>
                  <a:srgbClr val="ACBBC4"/>
                </a:solidFill>
                <a:latin typeface="Arial"/>
                <a:ea typeface="Arial"/>
                <a:cs typeface="Arial"/>
              </a:defRPr>
            </a:pPr>
            <a:r>
              <a:rPr sz="1350" b="0">
                <a:solidFill>
                  <a:srgbClr val="ACBBC4"/>
                </a:solidFill>
                <a:latin typeface="Arial"/>
                <a:ea typeface="Arial"/>
                <a:cs typeface="Arial"/>
              </a:rPr>
              <a:t>Compare detector and OCR changes, optimise frame selection, then calibrate precision and coverage.</a:t>
            </a:r>
          </a:p>
        </p:txBody>
      </p:sp>
      <p:sp>
        <p:nvSpPr>
          <p:cNvPr id="15" name="">
            <a:extLst xmlns:a="http://schemas.openxmlformats.org/drawingml/2006/main">
              <a:ext uri="{FF2B5EF4-FFF2-40B4-BE49-F238E27FC236}">
                <a16:creationId xmlns:a16="http://schemas.microsoft.com/office/drawing/2014/main" id="{724083E4-60F5-418A-869E-C6AE51E3CB3E}"/>
              </a:ext>
            </a:extLst>
          </p:cNvPr>
          <p:cNvSpPr>
            <a:spLocks xmlns:a="http://schemas.openxmlformats.org/drawingml/2006/main" noGrp="1"/>
          </p:cNvSpPr>
          <p:nvPr/>
        </p:nvSpPr>
        <p:spPr>
          <a:xfrm xmlns:a="http://schemas.openxmlformats.org/drawingml/2006/main">
            <a:off x="1428750" y="4352925"/>
            <a:ext cx="99441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1633F76-BFD8-4213-92C6-F29F6BDB3E35}"/>
              </a:ext>
            </a:extLst>
          </p:cNvPr>
          <p:cNvSpPr>
            <a:spLocks xmlns:a="http://schemas.openxmlformats.org/drawingml/2006/main" noGrp="1"/>
          </p:cNvSpPr>
          <p:nvPr/>
        </p:nvSpPr>
        <p:spPr>
          <a:xfrm xmlns:a="http://schemas.openxmlformats.org/drawingml/2006/main">
            <a:off x="742950" y="45339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F1B86D"/>
                </a:solidFill>
                <a:latin typeface="Arial"/>
                <a:ea typeface="Arial"/>
                <a:cs typeface="Arial"/>
              </a:defRPr>
            </a:pPr>
            <a:r>
              <a:rPr sz="1725" b="1">
                <a:solidFill>
                  <a:srgbClr val="F1B86D"/>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19AA50D8-1AB0-469B-85B7-BEC1AB6D5810}"/>
              </a:ext>
            </a:extLst>
          </p:cNvPr>
          <p:cNvSpPr>
            <a:spLocks xmlns:a="http://schemas.openxmlformats.org/drawingml/2006/main" noGrp="1"/>
          </p:cNvSpPr>
          <p:nvPr/>
        </p:nvSpPr>
        <p:spPr>
          <a:xfrm xmlns:a="http://schemas.openxmlformats.org/drawingml/2006/main">
            <a:off x="1438275" y="4533900"/>
            <a:ext cx="3190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3F5F6"/>
                </a:solidFill>
                <a:latin typeface="Arial"/>
                <a:ea typeface="Arial"/>
                <a:cs typeface="Arial"/>
              </a:defRPr>
            </a:pPr>
            <a:r>
              <a:rPr sz="1650" b="1">
                <a:solidFill>
                  <a:srgbClr val="F3F5F6"/>
                </a:solidFill>
                <a:latin typeface="Arial"/>
                <a:ea typeface="Arial"/>
                <a:cs typeface="Arial"/>
              </a:rPr>
              <a:t>Add authorised data links</a:t>
            </a:r>
          </a:p>
        </p:txBody>
      </p:sp>
      <p:sp>
        <p:nvSpPr>
          <p:cNvPr id="18" name="">
            <a:extLst xmlns:a="http://schemas.openxmlformats.org/drawingml/2006/main">
              <a:ext uri="{FF2B5EF4-FFF2-40B4-BE49-F238E27FC236}">
                <a16:creationId xmlns:a16="http://schemas.microsoft.com/office/drawing/2014/main" id="{03366072-B92C-43C0-B72E-AA402C643069}"/>
              </a:ext>
            </a:extLst>
          </p:cNvPr>
          <p:cNvSpPr>
            <a:spLocks xmlns:a="http://schemas.openxmlformats.org/drawingml/2006/main" noGrp="1"/>
          </p:cNvSpPr>
          <p:nvPr/>
        </p:nvSpPr>
        <p:spPr>
          <a:xfrm xmlns:a="http://schemas.openxmlformats.org/drawingml/2006/main">
            <a:off x="4638675" y="4533900"/>
            <a:ext cx="67341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a:solidFill>
                  <a:srgbClr val="ACBBC4"/>
                </a:solidFill>
                <a:latin typeface="Arial"/>
                <a:ea typeface="Arial"/>
                <a:cs typeface="Arial"/>
              </a:defRPr>
            </a:pPr>
            <a:r>
              <a:rPr sz="1350" b="0">
                <a:solidFill>
                  <a:srgbClr val="ACBBC4"/>
                </a:solidFill>
                <a:latin typeface="Arial"/>
                <a:ea typeface="Arial"/>
                <a:cs typeface="Arial"/>
              </a:rPr>
              <a:t>Integrate a state vehicle registry or watchlist only when access, purpose and API are approved.</a:t>
            </a:r>
          </a:p>
        </p:txBody>
      </p:sp>
      <p:sp>
        <p:nvSpPr>
          <p:cNvPr id="19" name="">
            <a:extLst xmlns:a="http://schemas.openxmlformats.org/drawingml/2006/main">
              <a:ext uri="{FF2B5EF4-FFF2-40B4-BE49-F238E27FC236}">
                <a16:creationId xmlns:a16="http://schemas.microsoft.com/office/drawing/2014/main" id="{A06CC36B-273B-41B0-9197-64EEE9F89F20}"/>
              </a:ext>
            </a:extLst>
          </p:cNvPr>
          <p:cNvSpPr>
            <a:spLocks xmlns:a="http://schemas.openxmlformats.org/drawingml/2006/main" noGrp="1"/>
          </p:cNvSpPr>
          <p:nvPr/>
        </p:nvSpPr>
        <p:spPr>
          <a:xfrm xmlns:a="http://schemas.openxmlformats.org/drawingml/2006/main">
            <a:off x="1428750" y="5153025"/>
            <a:ext cx="99441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78C1258-869E-408E-8C2A-7D6715EABEE8}"/>
              </a:ext>
            </a:extLst>
          </p:cNvPr>
          <p:cNvSpPr>
            <a:spLocks xmlns:a="http://schemas.openxmlformats.org/drawingml/2006/main" noGrp="1"/>
          </p:cNvSpPr>
          <p:nvPr/>
        </p:nvSpPr>
        <p:spPr>
          <a:xfrm xmlns:a="http://schemas.openxmlformats.org/drawingml/2006/main">
            <a:off x="742950" y="53340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F1B86D"/>
                </a:solidFill>
                <a:latin typeface="Arial"/>
                <a:ea typeface="Arial"/>
                <a:cs typeface="Arial"/>
              </a:defRPr>
            </a:pPr>
            <a:r>
              <a:rPr sz="1725" b="1">
                <a:solidFill>
                  <a:srgbClr val="F1B86D"/>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5A76E914-15B5-4242-B4E0-C7365DE13D82}"/>
              </a:ext>
            </a:extLst>
          </p:cNvPr>
          <p:cNvSpPr>
            <a:spLocks xmlns:a="http://schemas.openxmlformats.org/drawingml/2006/main" noGrp="1"/>
          </p:cNvSpPr>
          <p:nvPr/>
        </p:nvSpPr>
        <p:spPr>
          <a:xfrm xmlns:a="http://schemas.openxmlformats.org/drawingml/2006/main">
            <a:off x="1438275" y="5334000"/>
            <a:ext cx="3190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3F5F6"/>
                </a:solidFill>
                <a:latin typeface="Arial"/>
                <a:ea typeface="Arial"/>
                <a:cs typeface="Arial"/>
              </a:defRPr>
            </a:pPr>
            <a:r>
              <a:rPr sz="1650" b="1">
                <a:solidFill>
                  <a:srgbClr val="F3F5F6"/>
                </a:solidFill>
                <a:latin typeface="Arial"/>
                <a:ea typeface="Arial"/>
                <a:cs typeface="Arial"/>
              </a:rPr>
              <a:t>Measure regional capacity</a:t>
            </a:r>
          </a:p>
        </p:txBody>
      </p:sp>
      <p:sp>
        <p:nvSpPr>
          <p:cNvPr id="22" name="">
            <a:extLst xmlns:a="http://schemas.openxmlformats.org/drawingml/2006/main">
              <a:ext uri="{FF2B5EF4-FFF2-40B4-BE49-F238E27FC236}">
                <a16:creationId xmlns:a16="http://schemas.microsoft.com/office/drawing/2014/main" id="{888CF945-2C3D-47BA-87A7-8AD0C9F91230}"/>
              </a:ext>
            </a:extLst>
          </p:cNvPr>
          <p:cNvSpPr>
            <a:spLocks xmlns:a="http://schemas.openxmlformats.org/drawingml/2006/main" noGrp="1"/>
          </p:cNvSpPr>
          <p:nvPr/>
        </p:nvSpPr>
        <p:spPr>
          <a:xfrm xmlns:a="http://schemas.openxmlformats.org/drawingml/2006/main">
            <a:off x="4638675" y="5334000"/>
            <a:ext cx="67341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a:solidFill>
                  <a:srgbClr val="ACBBC4"/>
                </a:solidFill>
                <a:latin typeface="Arial"/>
                <a:ea typeface="Arial"/>
                <a:cs typeface="Arial"/>
              </a:defRPr>
            </a:pPr>
            <a:r>
              <a:rPr sz="1350" b="0">
                <a:solidFill>
                  <a:srgbClr val="ACBBC4"/>
                </a:solidFill>
                <a:latin typeface="Arial"/>
                <a:ea typeface="Arial"/>
                <a:cs typeface="Arial"/>
              </a:rPr>
              <a:t>Load test multi-camera edge nodes, central ingestion, outages, latency and operator workload.</a:t>
            </a:r>
          </a:p>
        </p:txBody>
      </p:sp>
      <p:sp>
        <p:nvSpPr>
          <p:cNvPr id="23" name="">
            <a:extLst xmlns:a="http://schemas.openxmlformats.org/drawingml/2006/main">
              <a:ext uri="{FF2B5EF4-FFF2-40B4-BE49-F238E27FC236}">
                <a16:creationId xmlns:a16="http://schemas.microsoft.com/office/drawing/2014/main" id="{B921C8CF-247D-4231-B73D-075C3C678EE0}"/>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D9CB017-5A3F-4895-B8B9-A011CBE5128C}"/>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25" name="">
            <a:extLst xmlns:a="http://schemas.openxmlformats.org/drawingml/2006/main">
              <a:ext uri="{FF2B5EF4-FFF2-40B4-BE49-F238E27FC236}">
                <a16:creationId xmlns:a16="http://schemas.microsoft.com/office/drawing/2014/main" id="{AADCD19A-4A22-47B4-A509-99FD2BC3C73D}"/>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13</a:t>
            </a:r>
          </a:p>
        </p:txBody>
      </p:sp>
    </p:spTree>
    <p:extLst>
      <p:ext uri="{BB962C8B-B14F-4D97-AF65-F5344CB8AC3E}">
        <p14:creationId xmlns:p14="http://schemas.microsoft.com/office/powerpoint/2010/main" val="355920500"/>
      </p:ext>
    </p:extLst>
  </p:cSld>
</p:sld>
</file>

<file path=ppt/slides/slide14.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D492699-7C36-4466-8416-D054541A40F0}"/>
              </a:ext>
            </a:extLst>
          </p:cNvPr>
          <p:cNvSpPr>
            <a:spLocks xmlns:a="http://schemas.openxmlformats.org/drawingml/2006/main" noGrp="1"/>
          </p:cNvSpPr>
          <p:nvPr/>
        </p:nvSpPr>
        <p:spPr>
          <a:xfrm xmlns:a="http://schemas.openxmlformats.org/drawingml/2006/main">
            <a:off x="628650" y="333375"/>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NEXT REVIEW</a:t>
            </a:r>
          </a:p>
        </p:txBody>
      </p:sp>
      <p:sp>
        <p:nvSpPr>
          <p:cNvPr id="2" name="">
            <a:extLst xmlns:a="http://schemas.openxmlformats.org/drawingml/2006/main">
              <a:ext uri="{FF2B5EF4-FFF2-40B4-BE49-F238E27FC236}">
                <a16:creationId xmlns:a16="http://schemas.microsoft.com/office/drawing/2014/main" id="{6CF59821-E0AD-46B5-89BB-63A9E0E1A053}"/>
              </a:ext>
            </a:extLst>
          </p:cNvPr>
          <p:cNvSpPr>
            <a:spLocks xmlns:a="http://schemas.openxmlformats.org/drawingml/2006/main" noGrp="1"/>
          </p:cNvSpPr>
          <p:nvPr/>
        </p:nvSpPr>
        <p:spPr>
          <a:xfrm xmlns:a="http://schemas.openxmlformats.org/drawingml/2006/main">
            <a:off x="628650" y="657225"/>
            <a:ext cx="1093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a:solidFill>
                  <a:srgbClr val="F3F5F6"/>
                </a:solidFill>
                <a:latin typeface="Arial"/>
                <a:ea typeface="Arial"/>
                <a:cs typeface="Arial"/>
              </a:defRPr>
            </a:pPr>
            <a:r>
              <a:rPr sz="3150" b="1">
                <a:solidFill>
                  <a:srgbClr val="F3F5F6"/>
                </a:solidFill>
                <a:latin typeface="Arial"/>
                <a:ea typeface="Arial"/>
                <a:cs typeface="Arial"/>
              </a:rPr>
              <a:t>Demonstration and completion gates</a:t>
            </a:r>
          </a:p>
        </p:txBody>
      </p:sp>
      <p:sp>
        <p:nvSpPr>
          <p:cNvPr id="3" name="">
            <a:extLst xmlns:a="http://schemas.openxmlformats.org/drawingml/2006/main">
              <a:ext uri="{FF2B5EF4-FFF2-40B4-BE49-F238E27FC236}">
                <a16:creationId xmlns:a16="http://schemas.microsoft.com/office/drawing/2014/main" id="{77CE7870-2642-4E6E-B761-E2FD918A010E}"/>
              </a:ext>
            </a:extLst>
          </p:cNvPr>
          <p:cNvSpPr>
            <a:spLocks xmlns:a="http://schemas.openxmlformats.org/drawingml/2006/main" noGrp="1"/>
          </p:cNvSpPr>
          <p:nvPr/>
        </p:nvSpPr>
        <p:spPr>
          <a:xfrm xmlns:a="http://schemas.openxmlformats.org/drawingml/2006/main">
            <a:off x="647700" y="12573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ACBBC4"/>
                </a:solidFill>
                <a:latin typeface="Arial"/>
                <a:ea typeface="Arial"/>
                <a:cs typeface="Arial"/>
              </a:defRPr>
            </a:pPr>
            <a:r>
              <a:rPr sz="1650" b="0">
                <a:solidFill>
                  <a:srgbClr val="ACBBC4"/>
                </a:solidFill>
                <a:latin typeface="Arial"/>
                <a:ea typeface="Arial"/>
                <a:cs typeface="Arial"/>
              </a:rPr>
              <a:t>Show the working system honestly, then define what evidence would justify a stronger claim.</a:t>
            </a:r>
          </a:p>
        </p:txBody>
      </p:sp>
      <p:sp>
        <p:nvSpPr>
          <p:cNvPr id="4" name="">
            <a:extLst xmlns:a="http://schemas.openxmlformats.org/drawingml/2006/main">
              <a:ext uri="{FF2B5EF4-FFF2-40B4-BE49-F238E27FC236}">
                <a16:creationId xmlns:a16="http://schemas.microsoft.com/office/drawing/2014/main" id="{E2B65A21-681C-431B-8B9D-6A09CC023ADA}"/>
              </a:ext>
            </a:extLst>
          </p:cNvPr>
          <p:cNvSpPr>
            <a:spLocks xmlns:a="http://schemas.openxmlformats.org/drawingml/2006/main" noGrp="1"/>
          </p:cNvSpPr>
          <p:nvPr/>
        </p:nvSpPr>
        <p:spPr>
          <a:xfrm xmlns:a="http://schemas.openxmlformats.org/drawingml/2006/main">
            <a:off x="666750" y="210502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4BD2C0"/>
                </a:solidFill>
                <a:latin typeface="Arial"/>
                <a:ea typeface="Arial"/>
                <a:cs typeface="Arial"/>
              </a:defRPr>
            </a:pPr>
            <a:r>
              <a:rPr sz="1200" b="1">
                <a:solidFill>
                  <a:srgbClr val="4BD2C0"/>
                </a:solidFill>
                <a:latin typeface="Arial"/>
                <a:ea typeface="Arial"/>
                <a:cs typeface="Arial"/>
              </a:rPr>
              <a:t>A SHORT, CREDIBLE DEMO</a:t>
            </a:r>
          </a:p>
        </p:txBody>
      </p:sp>
      <p:sp>
        <p:nvSpPr>
          <p:cNvPr id="5" name="">
            <a:extLst xmlns:a="http://schemas.openxmlformats.org/drawingml/2006/main">
              <a:ext uri="{FF2B5EF4-FFF2-40B4-BE49-F238E27FC236}">
                <a16:creationId xmlns:a16="http://schemas.microsoft.com/office/drawing/2014/main" id="{FB7C8E11-F81B-4F75-8825-6198C40AD824}"/>
              </a:ext>
            </a:extLst>
          </p:cNvPr>
          <p:cNvSpPr>
            <a:spLocks xmlns:a="http://schemas.openxmlformats.org/drawingml/2006/main" noGrp="1"/>
          </p:cNvSpPr>
          <p:nvPr/>
        </p:nvSpPr>
        <p:spPr>
          <a:xfrm xmlns:a="http://schemas.openxmlformats.org/drawingml/2006/main">
            <a:off x="666750" y="258127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8DCE411-3994-4125-92F3-B4FD9C83EC7E}"/>
              </a:ext>
            </a:extLst>
          </p:cNvPr>
          <p:cNvSpPr>
            <a:spLocks xmlns:a="http://schemas.openxmlformats.org/drawingml/2006/main" noGrp="1"/>
          </p:cNvSpPr>
          <p:nvPr/>
        </p:nvSpPr>
        <p:spPr>
          <a:xfrm xmlns:a="http://schemas.openxmlformats.org/drawingml/2006/main">
            <a:off x="857250" y="25050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Open the operator dashboard</a:t>
            </a:r>
          </a:p>
        </p:txBody>
      </p:sp>
      <p:sp>
        <p:nvSpPr>
          <p:cNvPr id="7" name="">
            <a:extLst xmlns:a="http://schemas.openxmlformats.org/drawingml/2006/main">
              <a:ext uri="{FF2B5EF4-FFF2-40B4-BE49-F238E27FC236}">
                <a16:creationId xmlns:a16="http://schemas.microsoft.com/office/drawing/2014/main" id="{90BEC5F8-4C51-4FB5-A502-B5EDC647DB46}"/>
              </a:ext>
            </a:extLst>
          </p:cNvPr>
          <p:cNvSpPr>
            <a:spLocks xmlns:a="http://schemas.openxmlformats.org/drawingml/2006/main" noGrp="1"/>
          </p:cNvSpPr>
          <p:nvPr/>
        </p:nvSpPr>
        <p:spPr>
          <a:xfrm xmlns:a="http://schemas.openxmlformats.org/drawingml/2006/main">
            <a:off x="857250" y="2790825"/>
            <a:ext cx="472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Show camera health, authorised camera search and a preview.</a:t>
            </a:r>
          </a:p>
        </p:txBody>
      </p:sp>
      <p:sp>
        <p:nvSpPr>
          <p:cNvPr id="8" name="">
            <a:extLst xmlns:a="http://schemas.openxmlformats.org/drawingml/2006/main">
              <a:ext uri="{FF2B5EF4-FFF2-40B4-BE49-F238E27FC236}">
                <a16:creationId xmlns:a16="http://schemas.microsoft.com/office/drawing/2014/main" id="{B00F2E8A-2677-43C5-BA47-A1A515C2AFAC}"/>
              </a:ext>
            </a:extLst>
          </p:cNvPr>
          <p:cNvSpPr>
            <a:spLocks xmlns:a="http://schemas.openxmlformats.org/drawingml/2006/main" noGrp="1"/>
          </p:cNvSpPr>
          <p:nvPr/>
        </p:nvSpPr>
        <p:spPr>
          <a:xfrm xmlns:a="http://schemas.openxmlformats.org/drawingml/2006/main">
            <a:off x="666750" y="3495675"/>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B0C23D8-7A0F-4C2C-BC1E-20692DB43C6A}"/>
              </a:ext>
            </a:extLst>
          </p:cNvPr>
          <p:cNvSpPr>
            <a:spLocks xmlns:a="http://schemas.openxmlformats.org/drawingml/2006/main" noGrp="1"/>
          </p:cNvSpPr>
          <p:nvPr/>
        </p:nvSpPr>
        <p:spPr>
          <a:xfrm xmlns:a="http://schemas.openxmlformats.org/drawingml/2006/main">
            <a:off x="857250" y="34194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Inject a labelled synthetic alert</a:t>
            </a:r>
          </a:p>
        </p:txBody>
      </p:sp>
      <p:sp>
        <p:nvSpPr>
          <p:cNvPr id="10" name="">
            <a:extLst xmlns:a="http://schemas.openxmlformats.org/drawingml/2006/main">
              <a:ext uri="{FF2B5EF4-FFF2-40B4-BE49-F238E27FC236}">
                <a16:creationId xmlns:a16="http://schemas.microsoft.com/office/drawing/2014/main" id="{8C9A1CBD-411A-44D5-8B90-0F7D4AFD8471}"/>
              </a:ext>
            </a:extLst>
          </p:cNvPr>
          <p:cNvSpPr>
            <a:spLocks xmlns:a="http://schemas.openxmlformats.org/drawingml/2006/main" noGrp="1"/>
          </p:cNvSpPr>
          <p:nvPr/>
        </p:nvSpPr>
        <p:spPr>
          <a:xfrm xmlns:a="http://schemas.openxmlformats.org/drawingml/2006/main">
            <a:off x="857250" y="3705225"/>
            <a:ext cx="472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Walk through acknowledge, resolve and audit history.</a:t>
            </a:r>
          </a:p>
        </p:txBody>
      </p:sp>
      <p:sp>
        <p:nvSpPr>
          <p:cNvPr id="11" name="">
            <a:extLst xmlns:a="http://schemas.openxmlformats.org/drawingml/2006/main">
              <a:ext uri="{FF2B5EF4-FFF2-40B4-BE49-F238E27FC236}">
                <a16:creationId xmlns:a16="http://schemas.microsoft.com/office/drawing/2014/main" id="{781C8BAE-A33A-4153-AB45-65BCD4970B86}"/>
              </a:ext>
            </a:extLst>
          </p:cNvPr>
          <p:cNvSpPr>
            <a:spLocks xmlns:a="http://schemas.openxmlformats.org/drawingml/2006/main" noGrp="1"/>
          </p:cNvSpPr>
          <p:nvPr/>
        </p:nvSpPr>
        <p:spPr>
          <a:xfrm xmlns:a="http://schemas.openxmlformats.org/drawingml/2006/main">
            <a:off x="666750" y="4419600"/>
            <a:ext cx="66675" cy="66675"/>
          </a:xfrm>
          <a:prstGeom xmlns:a="http://schemas.openxmlformats.org/drawingml/2006/main" prst="rect">
            <a:avLst/>
          </a:prstGeom>
          <a:solidFill xmlns:a="http://schemas.openxmlformats.org/drawingml/2006/main">
            <a:srgbClr val="4BD2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14A7160-3D8F-4F73-BB79-4754F86F7049}"/>
              </a:ext>
            </a:extLst>
          </p:cNvPr>
          <p:cNvSpPr>
            <a:spLocks xmlns:a="http://schemas.openxmlformats.org/drawingml/2006/main" noGrp="1"/>
          </p:cNvSpPr>
          <p:nvPr/>
        </p:nvSpPr>
        <p:spPr>
          <a:xfrm xmlns:a="http://schemas.openxmlformats.org/drawingml/2006/main">
            <a:off x="857250" y="43434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a:solidFill>
                  <a:srgbClr val="F3F5F6"/>
                </a:solidFill>
                <a:latin typeface="Arial"/>
                <a:ea typeface="Arial"/>
                <a:cs typeface="Arial"/>
              </a:defRPr>
            </a:pPr>
            <a:r>
              <a:rPr sz="1575" b="1">
                <a:solidFill>
                  <a:srgbClr val="F3F5F6"/>
                </a:solidFill>
                <a:latin typeface="Arial"/>
                <a:ea typeface="Arial"/>
                <a:cs typeface="Arial"/>
              </a:rPr>
              <a:t>Open the engineering console</a:t>
            </a:r>
          </a:p>
        </p:txBody>
      </p:sp>
      <p:sp>
        <p:nvSpPr>
          <p:cNvPr id="13" name="">
            <a:extLst xmlns:a="http://schemas.openxmlformats.org/drawingml/2006/main">
              <a:ext uri="{FF2B5EF4-FFF2-40B4-BE49-F238E27FC236}">
                <a16:creationId xmlns:a16="http://schemas.microsoft.com/office/drawing/2014/main" id="{1336C5F7-6E7B-4400-9B83-391265ADE918}"/>
              </a:ext>
            </a:extLst>
          </p:cNvPr>
          <p:cNvSpPr>
            <a:spLocks xmlns:a="http://schemas.openxmlformats.org/drawingml/2006/main" noGrp="1"/>
          </p:cNvSpPr>
          <p:nvPr/>
        </p:nvSpPr>
        <p:spPr>
          <a:xfrm xmlns:a="http://schemas.openxmlformats.org/drawingml/2006/main">
            <a:off x="857250" y="4629150"/>
            <a:ext cx="472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a:solidFill>
                  <a:srgbClr val="ACBBC4"/>
                </a:solidFill>
                <a:latin typeface="Arial"/>
                <a:ea typeface="Arial"/>
                <a:cs typeface="Arial"/>
              </a:defRPr>
            </a:pPr>
            <a:r>
              <a:rPr sz="1350" b="0">
                <a:solidFill>
                  <a:srgbClr val="ACBBC4"/>
                </a:solidFill>
                <a:latin typeface="Arial"/>
                <a:ea typeface="Arial"/>
                <a:cs typeface="Arial"/>
              </a:rPr>
              <a:t>Show one live crop, frame-level OCR and candidate status when available.</a:t>
            </a:r>
          </a:p>
        </p:txBody>
      </p:sp>
      <p:sp>
        <p:nvSpPr>
          <p:cNvPr id="14" name="">
            <a:extLst xmlns:a="http://schemas.openxmlformats.org/drawingml/2006/main">
              <a:ext uri="{FF2B5EF4-FFF2-40B4-BE49-F238E27FC236}">
                <a16:creationId xmlns:a16="http://schemas.microsoft.com/office/drawing/2014/main" id="{4832783D-FA80-4801-8F90-CAA24BF5804C}"/>
              </a:ext>
            </a:extLst>
          </p:cNvPr>
          <p:cNvSpPr>
            <a:spLocks xmlns:a="http://schemas.openxmlformats.org/drawingml/2006/main" noGrp="1"/>
          </p:cNvSpPr>
          <p:nvPr/>
        </p:nvSpPr>
        <p:spPr>
          <a:xfrm xmlns:a="http://schemas.openxmlformats.org/drawingml/2006/main">
            <a:off x="6076950" y="2095500"/>
            <a:ext cx="9525" cy="3486150"/>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E25C43B-CEBC-4DC3-80EB-C931B5AE85D8}"/>
              </a:ext>
            </a:extLst>
          </p:cNvPr>
          <p:cNvSpPr>
            <a:spLocks xmlns:a="http://schemas.openxmlformats.org/drawingml/2006/main" noGrp="1"/>
          </p:cNvSpPr>
          <p:nvPr/>
        </p:nvSpPr>
        <p:spPr>
          <a:xfrm xmlns:a="http://schemas.openxmlformats.org/drawingml/2006/main">
            <a:off x="6515100" y="2105025"/>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F1B86D"/>
                </a:solidFill>
                <a:latin typeface="Arial"/>
                <a:ea typeface="Arial"/>
                <a:cs typeface="Arial"/>
              </a:defRPr>
            </a:pPr>
            <a:r>
              <a:rPr sz="1200" b="1">
                <a:solidFill>
                  <a:srgbClr val="F1B86D"/>
                </a:solidFill>
                <a:latin typeface="Arial"/>
                <a:ea typeface="Arial"/>
                <a:cs typeface="Arial"/>
              </a:rPr>
              <a:t>MEASURE BEFORE CLAIMING READINESS</a:t>
            </a:r>
          </a:p>
        </p:txBody>
      </p:sp>
      <p:sp>
        <p:nvSpPr>
          <p:cNvPr id="16" name="">
            <a:extLst xmlns:a="http://schemas.openxmlformats.org/drawingml/2006/main">
              <a:ext uri="{FF2B5EF4-FFF2-40B4-BE49-F238E27FC236}">
                <a16:creationId xmlns:a16="http://schemas.microsoft.com/office/drawing/2014/main" id="{5200DDCE-9A95-451C-A985-706DC12E0C9C}"/>
              </a:ext>
            </a:extLst>
          </p:cNvPr>
          <p:cNvSpPr>
            <a:spLocks xmlns:a="http://schemas.openxmlformats.org/drawingml/2006/main" noGrp="1"/>
          </p:cNvSpPr>
          <p:nvPr/>
        </p:nvSpPr>
        <p:spPr>
          <a:xfrm xmlns:a="http://schemas.openxmlformats.org/drawingml/2006/main">
            <a:off x="6515100" y="2533650"/>
            <a:ext cx="4810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0">
                <a:solidFill>
                  <a:srgbClr val="F3F5F6"/>
                </a:solidFill>
                <a:latin typeface="Arial"/>
                <a:ea typeface="Arial"/>
                <a:cs typeface="Arial"/>
              </a:defRPr>
            </a:pPr>
            <a:r>
              <a:rPr sz="1500" b="0">
                <a:solidFill>
                  <a:srgbClr val="F3F5F6"/>
                </a:solidFill>
                <a:latin typeface="Arial"/>
                <a:ea typeface="Arial"/>
                <a:cs typeface="Arial"/>
              </a:rPr>
              <a:t>Exact-plate precision and coverage on independent labelled vehicles</a:t>
            </a:r>
          </a:p>
        </p:txBody>
      </p:sp>
      <p:sp>
        <p:nvSpPr>
          <p:cNvPr id="17" name="">
            <a:extLst xmlns:a="http://schemas.openxmlformats.org/drawingml/2006/main">
              <a:ext uri="{FF2B5EF4-FFF2-40B4-BE49-F238E27FC236}">
                <a16:creationId xmlns:a16="http://schemas.microsoft.com/office/drawing/2014/main" id="{796EBDBF-0C21-483C-BBB4-55627F2EA46C}"/>
              </a:ext>
            </a:extLst>
          </p:cNvPr>
          <p:cNvSpPr>
            <a:spLocks xmlns:a="http://schemas.openxmlformats.org/drawingml/2006/main" noGrp="1"/>
          </p:cNvSpPr>
          <p:nvPr/>
        </p:nvSpPr>
        <p:spPr>
          <a:xfrm xmlns:a="http://schemas.openxmlformats.org/drawingml/2006/main">
            <a:off x="6515100" y="3314700"/>
            <a:ext cx="48101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0">
                <a:solidFill>
                  <a:srgbClr val="F3F5F6"/>
                </a:solidFill>
                <a:latin typeface="Arial"/>
                <a:ea typeface="Arial"/>
                <a:cs typeface="Arial"/>
              </a:defRPr>
            </a:pPr>
            <a:r>
              <a:rPr sz="1500" b="0">
                <a:solidFill>
                  <a:srgbClr val="F3F5F6"/>
                </a:solidFill>
                <a:latin typeface="Arial"/>
                <a:ea typeface="Arial"/>
                <a:cs typeface="Arial"/>
              </a:rPr>
              <a:t>False-alert rate and operator review time</a:t>
            </a:r>
          </a:p>
        </p:txBody>
      </p:sp>
      <p:sp>
        <p:nvSpPr>
          <p:cNvPr id="18" name="">
            <a:extLst xmlns:a="http://schemas.openxmlformats.org/drawingml/2006/main">
              <a:ext uri="{FF2B5EF4-FFF2-40B4-BE49-F238E27FC236}">
                <a16:creationId xmlns:a16="http://schemas.microsoft.com/office/drawing/2014/main" id="{34724466-24CC-4024-98F6-2891F2D956C1}"/>
              </a:ext>
            </a:extLst>
          </p:cNvPr>
          <p:cNvSpPr>
            <a:spLocks xmlns:a="http://schemas.openxmlformats.org/drawingml/2006/main" noGrp="1"/>
          </p:cNvSpPr>
          <p:nvPr/>
        </p:nvSpPr>
        <p:spPr>
          <a:xfrm xmlns:a="http://schemas.openxmlformats.org/drawingml/2006/main">
            <a:off x="6515100" y="4010025"/>
            <a:ext cx="48101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0">
                <a:solidFill>
                  <a:srgbClr val="F3F5F6"/>
                </a:solidFill>
                <a:latin typeface="Arial"/>
                <a:ea typeface="Arial"/>
                <a:cs typeface="Arial"/>
              </a:defRPr>
            </a:pPr>
            <a:r>
              <a:rPr sz="1500" b="0">
                <a:solidFill>
                  <a:srgbClr val="F3F5F6"/>
                </a:solidFill>
                <a:latin typeface="Arial"/>
                <a:ea typeface="Arial"/>
                <a:cs typeface="Arial"/>
              </a:rPr>
              <a:t>Two-feed endurance, recovery and end-to-end alert latency</a:t>
            </a:r>
          </a:p>
        </p:txBody>
      </p:sp>
      <p:sp>
        <p:nvSpPr>
          <p:cNvPr id="19" name="">
            <a:extLst xmlns:a="http://schemas.openxmlformats.org/drawingml/2006/main">
              <a:ext uri="{FF2B5EF4-FFF2-40B4-BE49-F238E27FC236}">
                <a16:creationId xmlns:a16="http://schemas.microsoft.com/office/drawing/2014/main" id="{A8DBF0FD-181F-4584-8B50-4622A11446F5}"/>
              </a:ext>
            </a:extLst>
          </p:cNvPr>
          <p:cNvSpPr>
            <a:spLocks xmlns:a="http://schemas.openxmlformats.org/drawingml/2006/main" noGrp="1"/>
          </p:cNvSpPr>
          <p:nvPr/>
        </p:nvSpPr>
        <p:spPr>
          <a:xfrm xmlns:a="http://schemas.openxmlformats.org/drawingml/2006/main">
            <a:off x="6515100" y="4724400"/>
            <a:ext cx="48101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0">
                <a:solidFill>
                  <a:srgbClr val="F3F5F6"/>
                </a:solidFill>
                <a:latin typeface="Arial"/>
                <a:ea typeface="Arial"/>
                <a:cs typeface="Arial"/>
              </a:defRPr>
            </a:pPr>
            <a:r>
              <a:rPr sz="1500" b="0">
                <a:solidFill>
                  <a:srgbClr val="F3F5F6"/>
                </a:solidFill>
                <a:latin typeface="Arial"/>
                <a:ea typeface="Arial"/>
                <a:cs typeface="Arial"/>
              </a:rPr>
              <a:t>Capacity per edge node before any fleet-scale projection</a:t>
            </a:r>
          </a:p>
        </p:txBody>
      </p:sp>
      <p:sp>
        <p:nvSpPr>
          <p:cNvPr id="20" name="">
            <a:extLst xmlns:a="http://schemas.openxmlformats.org/drawingml/2006/main">
              <a:ext uri="{FF2B5EF4-FFF2-40B4-BE49-F238E27FC236}">
                <a16:creationId xmlns:a16="http://schemas.microsoft.com/office/drawing/2014/main" id="{EB0CF5F1-65E6-42F2-B70C-8F27E154CE57}"/>
              </a:ext>
            </a:extLst>
          </p:cNvPr>
          <p:cNvSpPr>
            <a:spLocks xmlns:a="http://schemas.openxmlformats.org/drawingml/2006/main" noGrp="1"/>
          </p:cNvSpPr>
          <p:nvPr/>
        </p:nvSpPr>
        <p:spPr>
          <a:xfrm xmlns:a="http://schemas.openxmlformats.org/drawingml/2006/main">
            <a:off x="666750" y="5572125"/>
            <a:ext cx="107346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1">
                <a:solidFill>
                  <a:srgbClr val="F1B86D"/>
                </a:solidFill>
                <a:latin typeface="Arial"/>
                <a:ea typeface="Arial"/>
                <a:cs typeface="Arial"/>
              </a:defRPr>
            </a:pPr>
            <a:r>
              <a:rPr sz="1425" b="1">
                <a:solidFill>
                  <a:srgbClr val="F1B86D"/>
                </a:solidFill>
                <a:latin typeface="Arial"/>
                <a:ea typeface="Arial"/>
                <a:cs typeface="Arial"/>
              </a:rPr>
              <a:t>Current honest status: the dashboard and engineering workflow are demonstrable. Reliable live plate recognition and large-scale capacity still need validation.</a:t>
            </a:r>
          </a:p>
        </p:txBody>
      </p:sp>
      <p:sp>
        <p:nvSpPr>
          <p:cNvPr id="21" name="">
            <a:extLst xmlns:a="http://schemas.openxmlformats.org/drawingml/2006/main">
              <a:ext uri="{FF2B5EF4-FFF2-40B4-BE49-F238E27FC236}">
                <a16:creationId xmlns:a16="http://schemas.microsoft.com/office/drawing/2014/main" id="{7B25FF7D-5367-4DAA-9E90-BB167768B7AB}"/>
              </a:ext>
            </a:extLst>
          </p:cNvPr>
          <p:cNvSpPr>
            <a:spLocks xmlns:a="http://schemas.openxmlformats.org/drawingml/2006/main" noGrp="1"/>
          </p:cNvSpPr>
          <p:nvPr/>
        </p:nvSpPr>
        <p:spPr>
          <a:xfrm xmlns:a="http://schemas.openxmlformats.org/drawingml/2006/main">
            <a:off x="628650" y="6419850"/>
            <a:ext cx="10934700" cy="9525"/>
          </a:xfrm>
          <a:prstGeom xmlns:a="http://schemas.openxmlformats.org/drawingml/2006/main" prst="rect">
            <a:avLst/>
          </a:prstGeom>
          <a:solidFill xmlns:a="http://schemas.openxmlformats.org/drawingml/2006/main">
            <a:srgbClr val="30455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5BAB022-EA0F-470F-96BD-CD1F2848941F}"/>
              </a:ext>
            </a:extLst>
          </p:cNvPr>
          <p:cNvSpPr>
            <a:spLocks xmlns:a="http://schemas.openxmlformats.org/drawingml/2006/main" noGrp="1"/>
          </p:cNvSpPr>
          <p:nvPr/>
        </p:nvSpPr>
        <p:spPr>
          <a:xfrm xmlns:a="http://schemas.openxmlformats.org/drawingml/2006/main">
            <a:off x="628650" y="65341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0">
                <a:solidFill>
                  <a:srgbClr val="78909B"/>
                </a:solidFill>
                <a:latin typeface="Arial"/>
                <a:ea typeface="Arial"/>
                <a:cs typeface="Arial"/>
              </a:defRPr>
            </a:pPr>
            <a:r>
              <a:rPr sz="975" b="0">
                <a:solidFill>
                  <a:srgbClr val="78909B"/>
                </a:solidFill>
                <a:latin typeface="Arial"/>
                <a:ea typeface="Arial"/>
                <a:cs typeface="Arial"/>
              </a:rPr>
              <a:t>Sentinel Vehicle Intelligence  |  Prototype status  |  28 September 2026</a:t>
            </a:r>
          </a:p>
        </p:txBody>
      </p:sp>
      <p:sp>
        <p:nvSpPr>
          <p:cNvPr id="23" name="">
            <a:extLst xmlns:a="http://schemas.openxmlformats.org/drawingml/2006/main">
              <a:ext uri="{FF2B5EF4-FFF2-40B4-BE49-F238E27FC236}">
                <a16:creationId xmlns:a16="http://schemas.microsoft.com/office/drawing/2014/main" id="{4606F875-C328-4B5A-8C25-7E21E9D89202}"/>
              </a:ext>
            </a:extLst>
          </p:cNvPr>
          <p:cNvSpPr>
            <a:spLocks xmlns:a="http://schemas.openxmlformats.org/drawingml/2006/main" noGrp="1"/>
          </p:cNvSpPr>
          <p:nvPr/>
        </p:nvSpPr>
        <p:spPr>
          <a:xfrm xmlns:a="http://schemas.openxmlformats.org/drawingml/2006/main">
            <a:off x="11049000" y="65151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1">
                <a:solidFill>
                  <a:srgbClr val="4BD2C0"/>
                </a:solidFill>
                <a:latin typeface="Arial"/>
                <a:ea typeface="Arial"/>
                <a:cs typeface="Arial"/>
              </a:defRPr>
            </a:pPr>
            <a:r>
              <a:rPr sz="1125" b="1">
                <a:solidFill>
                  <a:srgbClr val="4BD2C0"/>
                </a:solidFill>
                <a:latin typeface="Arial"/>
                <a:ea typeface="Arial"/>
                <a:cs typeface="Arial"/>
              </a:rPr>
              <a:t>14</a:t>
            </a:r>
          </a:p>
        </p:txBody>
      </p:sp>
    </p:spTree>
    <p:extLst>
      <p:ext uri="{BB962C8B-B14F-4D97-AF65-F5344CB8AC3E}">
        <p14:creationId xmlns:p14="http://schemas.microsoft.com/office/powerpoint/2010/main" val="612705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2026-09-28T16:11:43.3060000Z</dcterms:created>
  <dcterms:modified xsi:type="dcterms:W3CDTF">2026-09-28T16:11:43.3060000Z</dcterms:modified>
</coreProperties>
</file>